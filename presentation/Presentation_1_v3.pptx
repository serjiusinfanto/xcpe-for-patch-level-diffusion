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72"/>
  </p:normalViewPr>
  <p:slideViewPr>
    <p:cSldViewPr snapToGrid="0">
      <p:cViewPr varScale="1">
        <p:scale>
          <a:sx n="132" d="100"/>
          <a:sy n="132" d="100"/>
        </p:scale>
        <p:origin x="5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lmaphother/TimeDAR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Pointcept/%20PointTransformerV3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513442" y="1027810"/>
            <a:ext cx="8410169" cy="165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30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Content-Conditioned Positional Encoding</a:t>
            </a:r>
          </a:p>
          <a:p>
            <a:pPr algn="ctr">
              <a:defRPr sz="30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for Patch-Level Diffusion in</a:t>
            </a:r>
          </a:p>
          <a:p>
            <a:pPr algn="ctr">
              <a:defRPr sz="30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Time Series Forecasting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502919" y="2894892"/>
            <a:ext cx="8138161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9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xCPE-TimeDART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502919" y="3743811"/>
            <a:ext cx="8138161" cy="1170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Deep Learning - Spring 2026</a:t>
            </a:r>
          </a:p>
          <a:p>
            <a:pPr algn="ctr">
              <a:defRPr sz="14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  <a:p>
            <a:pPr algn="ctr">
              <a:defRPr sz="12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MSML 612 - Group 1</a:t>
            </a:r>
          </a:p>
          <a:p>
            <a:pPr algn="ctr">
              <a:defRPr sz="12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  <a:p>
            <a:pPr algn="ctr"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Serjius Infanto    Athreya Sudarshan    Tharunkumar Chandrasekaran    Anto Delin Xavier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1"/>
          <p:cNvSpPr txBox="1"/>
          <p:nvPr/>
        </p:nvSpPr>
        <p:spPr>
          <a:xfrm>
            <a:off x="302993" y="105935"/>
            <a:ext cx="251032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1. INTRODUCTION</a:t>
            </a:r>
          </a:p>
        </p:txBody>
      </p:sp>
      <p:sp>
        <p:nvSpPr>
          <p:cNvPr id="25" name="Text 2"/>
          <p:cNvSpPr txBox="1"/>
          <p:nvPr/>
        </p:nvSpPr>
        <p:spPr>
          <a:xfrm>
            <a:off x="502919" y="772160"/>
            <a:ext cx="8138161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2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Project Overview</a:t>
            </a:r>
          </a:p>
        </p:txBody>
      </p:sp>
      <p:sp>
        <p:nvSpPr>
          <p:cNvPr id="26" name="Text 4"/>
          <p:cNvSpPr txBox="1"/>
          <p:nvPr/>
        </p:nvSpPr>
        <p:spPr>
          <a:xfrm>
            <a:off x="517440" y="1654284"/>
            <a:ext cx="77724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Time Series Forecasting Challenge</a:t>
            </a:r>
          </a:p>
        </p:txBody>
      </p:sp>
      <p:sp>
        <p:nvSpPr>
          <p:cNvPr id="27" name="Text 5"/>
          <p:cNvSpPr txBox="1"/>
          <p:nvPr/>
        </p:nvSpPr>
        <p:spPr>
          <a:xfrm>
            <a:off x="517440" y="1992371"/>
            <a:ext cx="7772401" cy="791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800"/>
              </a:lnSpc>
              <a:defRPr sz="13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Predicting future values from historical sequential data is critical for energy grids, climate science, and industrial monitoring. State-of-the-art models like PatchTST and TimeDART achieve strong results by dividing time series into fixed-length patches and processing them with Transformer encoders.</a:t>
            </a:r>
          </a:p>
        </p:txBody>
      </p:sp>
      <p:sp>
        <p:nvSpPr>
          <p:cNvPr id="28" name="Text 7"/>
          <p:cNvSpPr txBox="1"/>
          <p:nvPr/>
        </p:nvSpPr>
        <p:spPr>
          <a:xfrm>
            <a:off x="517440" y="3342113"/>
            <a:ext cx="228600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Current Approach</a:t>
            </a:r>
          </a:p>
        </p:txBody>
      </p:sp>
      <p:sp>
        <p:nvSpPr>
          <p:cNvPr id="29" name="Text 8"/>
          <p:cNvSpPr txBox="1"/>
          <p:nvPr/>
        </p:nvSpPr>
        <p:spPr>
          <a:xfrm>
            <a:off x="517440" y="3929958"/>
            <a:ext cx="2286001" cy="711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600"/>
              </a:lnSpc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Fixed positional encodings assign the same bias to every position, regardless of local signal dynamics</a:t>
            </a:r>
          </a:p>
        </p:txBody>
      </p:sp>
      <p:sp>
        <p:nvSpPr>
          <p:cNvPr id="30" name="Text 10"/>
          <p:cNvSpPr txBox="1"/>
          <p:nvPr/>
        </p:nvSpPr>
        <p:spPr>
          <a:xfrm>
            <a:off x="3397801" y="3342113"/>
            <a:ext cx="228600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The Problem</a:t>
            </a:r>
          </a:p>
        </p:txBody>
      </p:sp>
      <p:sp>
        <p:nvSpPr>
          <p:cNvPr id="31" name="Text 11"/>
          <p:cNvSpPr txBox="1"/>
          <p:nvPr/>
        </p:nvSpPr>
        <p:spPr>
          <a:xfrm>
            <a:off x="3397801" y="3929958"/>
            <a:ext cx="2286001" cy="711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600"/>
              </a:lnSpc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Real-world time series are non-stationary - statistical properties shift substantially over time</a:t>
            </a:r>
          </a:p>
        </p:txBody>
      </p:sp>
      <p:sp>
        <p:nvSpPr>
          <p:cNvPr id="32" name="Text 13"/>
          <p:cNvSpPr txBox="1"/>
          <p:nvPr/>
        </p:nvSpPr>
        <p:spPr>
          <a:xfrm>
            <a:off x="6278160" y="3342113"/>
            <a:ext cx="228600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The Gap</a:t>
            </a:r>
          </a:p>
        </p:txBody>
      </p:sp>
      <p:sp>
        <p:nvSpPr>
          <p:cNvPr id="33" name="Text 14"/>
          <p:cNvSpPr txBox="1"/>
          <p:nvPr/>
        </p:nvSpPr>
        <p:spPr>
          <a:xfrm>
            <a:off x="6278160" y="3929958"/>
            <a:ext cx="2286001" cy="711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600"/>
              </a:lnSpc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Models with fixed embeddings may confuse structurally similar dynamics at different positions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2"/>
          <p:cNvSpPr txBox="1"/>
          <p:nvPr/>
        </p:nvSpPr>
        <p:spPr>
          <a:xfrm>
            <a:off x="502919" y="772160"/>
            <a:ext cx="8138161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2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Problem Statement</a:t>
            </a:r>
          </a:p>
        </p:txBody>
      </p:sp>
      <p:sp>
        <p:nvSpPr>
          <p:cNvPr id="36" name="Text 4"/>
          <p:cNvSpPr txBox="1"/>
          <p:nvPr/>
        </p:nvSpPr>
        <p:spPr>
          <a:xfrm>
            <a:off x="685799" y="1666240"/>
            <a:ext cx="77724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Research Question</a:t>
            </a:r>
          </a:p>
        </p:txBody>
      </p:sp>
      <p:sp>
        <p:nvSpPr>
          <p:cNvPr id="37" name="Text 5"/>
          <p:cNvSpPr txBox="1"/>
          <p:nvPr/>
        </p:nvSpPr>
        <p:spPr>
          <a:xfrm>
            <a:off x="685799" y="1989302"/>
            <a:ext cx="7772401" cy="867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000"/>
              </a:lnSpc>
              <a:defRPr sz="14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Can replacing the fixed positional embedding in TimeDART with a content-conditioned encoding that adapts to local patch statistics improve forecasting accuracy on non-stationary benchmarks?</a:t>
            </a:r>
          </a:p>
        </p:txBody>
      </p:sp>
      <p:sp>
        <p:nvSpPr>
          <p:cNvPr id="38" name="Text 6"/>
          <p:cNvSpPr txBox="1"/>
          <p:nvPr/>
        </p:nvSpPr>
        <p:spPr>
          <a:xfrm>
            <a:off x="502919" y="3286436"/>
            <a:ext cx="813816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Why This Matters</a:t>
            </a:r>
          </a:p>
        </p:txBody>
      </p:sp>
      <p:sp>
        <p:nvSpPr>
          <p:cNvPr id="39" name="Text 8"/>
          <p:cNvSpPr txBox="1"/>
          <p:nvPr/>
        </p:nvSpPr>
        <p:spPr>
          <a:xfrm>
            <a:off x="685800" y="3794759"/>
            <a:ext cx="22860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Non-Stationarity</a:t>
            </a:r>
          </a:p>
        </p:txBody>
      </p:sp>
      <p:sp>
        <p:nvSpPr>
          <p:cNvPr id="40" name="Text 9"/>
          <p:cNvSpPr txBox="1"/>
          <p:nvPr/>
        </p:nvSpPr>
        <p:spPr>
          <a:xfrm>
            <a:off x="685800" y="4124795"/>
            <a:ext cx="2286001" cy="711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600"/>
              </a:lnSpc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ETTh1 and Weather datasets show significant distribution shifts across train/val/test splits</a:t>
            </a:r>
          </a:p>
        </p:txBody>
      </p:sp>
      <p:sp>
        <p:nvSpPr>
          <p:cNvPr id="41" name="Text 11"/>
          <p:cNvSpPr txBox="1"/>
          <p:nvPr/>
        </p:nvSpPr>
        <p:spPr>
          <a:xfrm>
            <a:off x="3566160" y="3794759"/>
            <a:ext cx="22860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Fixed Encoding Limitation</a:t>
            </a:r>
          </a:p>
        </p:txBody>
      </p:sp>
      <p:sp>
        <p:nvSpPr>
          <p:cNvPr id="42" name="Text 12"/>
          <p:cNvSpPr txBox="1"/>
          <p:nvPr/>
        </p:nvSpPr>
        <p:spPr>
          <a:xfrm>
            <a:off x="3566160" y="4124795"/>
            <a:ext cx="2286001" cy="711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600"/>
              </a:lnSpc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Standard positional embeddings cannot adapt to changing statistical properties over time</a:t>
            </a:r>
          </a:p>
        </p:txBody>
      </p:sp>
      <p:sp>
        <p:nvSpPr>
          <p:cNvPr id="43" name="Text 14"/>
          <p:cNvSpPr txBox="1"/>
          <p:nvPr/>
        </p:nvSpPr>
        <p:spPr>
          <a:xfrm>
            <a:off x="6446520" y="3794759"/>
            <a:ext cx="22860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Forecasting Challenge</a:t>
            </a:r>
          </a:p>
        </p:txBody>
      </p:sp>
      <p:sp>
        <p:nvSpPr>
          <p:cNvPr id="44" name="Text 15"/>
          <p:cNvSpPr txBox="1"/>
          <p:nvPr/>
        </p:nvSpPr>
        <p:spPr>
          <a:xfrm>
            <a:off x="6446520" y="4124795"/>
            <a:ext cx="2286001" cy="711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600"/>
              </a:lnSpc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Longer horizons (720 steps) require models that generalize beyond training distribution</a:t>
            </a:r>
          </a:p>
        </p:txBody>
      </p:sp>
      <p:sp>
        <p:nvSpPr>
          <p:cNvPr id="45" name="Text 1"/>
          <p:cNvSpPr txBox="1"/>
          <p:nvPr/>
        </p:nvSpPr>
        <p:spPr>
          <a:xfrm>
            <a:off x="302993" y="105935"/>
            <a:ext cx="251032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1. INTRODUCTION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1"/>
          <p:cNvSpPr txBox="1"/>
          <p:nvPr/>
        </p:nvSpPr>
        <p:spPr>
          <a:xfrm>
            <a:off x="356304" y="104140"/>
            <a:ext cx="344791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2. PROPOSED SOLUTION</a:t>
            </a:r>
          </a:p>
        </p:txBody>
      </p:sp>
      <p:sp>
        <p:nvSpPr>
          <p:cNvPr id="48" name="Text 2"/>
          <p:cNvSpPr txBox="1"/>
          <p:nvPr/>
        </p:nvSpPr>
        <p:spPr>
          <a:xfrm>
            <a:off x="452138" y="662945"/>
            <a:ext cx="8514043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Content-Conditioned Positional Encoding (xCPE)</a:t>
            </a:r>
          </a:p>
        </p:txBody>
      </p:sp>
      <p:sp>
        <p:nvSpPr>
          <p:cNvPr id="49" name="Text 4"/>
          <p:cNvSpPr txBox="1"/>
          <p:nvPr/>
        </p:nvSpPr>
        <p:spPr>
          <a:xfrm>
            <a:off x="506918" y="1438909"/>
            <a:ext cx="8130164" cy="815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4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Core Innovation:  </a:t>
            </a:r>
            <a:r>
              <a:rPr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rPr>
              <a:t>Encode position based on </a:t>
            </a:r>
            <a:r>
              <a:rPr i="1"/>
              <a:t>what a patch looks like</a:t>
            </a:r>
            <a:r>
              <a:rPr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rPr>
              <a:t>, not </a:t>
            </a:r>
            <a:r>
              <a:rPr>
                <a:solidFill>
                  <a:srgbClr val="FFFFFF"/>
                </a:solidFill>
                <a:latin typeface="Avenir Book Oblique"/>
                <a:ea typeface="Avenir Book Oblique"/>
                <a:cs typeface="Avenir Book Oblique"/>
                <a:sym typeface="Avenir Book Oblique"/>
              </a:rPr>
              <a:t>where it sits</a:t>
            </a:r>
            <a:r>
              <a:rPr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rPr>
              <a:t>. Two patches with identical local dynamics receive identical positional embeddings, regardless of their absolute position in the sequence.</a:t>
            </a:r>
          </a:p>
        </p:txBody>
      </p:sp>
      <p:sp>
        <p:nvSpPr>
          <p:cNvPr id="50" name="Text 5"/>
          <p:cNvSpPr txBox="1"/>
          <p:nvPr/>
        </p:nvSpPr>
        <p:spPr>
          <a:xfrm>
            <a:off x="502919" y="2386329"/>
            <a:ext cx="813816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Three-Step Process</a:t>
            </a:r>
          </a:p>
        </p:txBody>
      </p:sp>
      <p:sp>
        <p:nvSpPr>
          <p:cNvPr id="51" name="Text 9"/>
          <p:cNvSpPr txBox="1"/>
          <p:nvPr/>
        </p:nvSpPr>
        <p:spPr>
          <a:xfrm>
            <a:off x="548640" y="3075765"/>
            <a:ext cx="228600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Neighbourhood Gathering</a:t>
            </a:r>
          </a:p>
        </p:txBody>
      </p:sp>
      <p:sp>
        <p:nvSpPr>
          <p:cNvPr id="52" name="Text 10"/>
          <p:cNvSpPr txBox="1"/>
          <p:nvPr/>
        </p:nvSpPr>
        <p:spPr>
          <a:xfrm>
            <a:off x="548640" y="3397749"/>
            <a:ext cx="2286001" cy="1421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For each patch i, collect the 3-token window:</a:t>
            </a:r>
          </a:p>
          <a:p>
            <a:pPr>
              <a:lnSpc>
                <a:spcPts val="1300"/>
              </a:lnSpc>
              <a:defRPr sz="900"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  <a:p>
            <a:pPr>
              <a:lnSpc>
                <a:spcPts val="1300"/>
              </a:lnSpc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Nᵢ = {xᵢ₋₁, xᵢ, xᵢ₊₁}</a:t>
            </a:r>
          </a:p>
          <a:p>
            <a:pPr>
              <a:lnSpc>
                <a:spcPts val="1300"/>
              </a:lnSpc>
              <a:defRPr sz="900"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  <a:p>
            <a:pPr>
              <a:lnSpc>
                <a:spcPts val="1300"/>
              </a:lnSpc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Zero-padding at sequence edges.</a:t>
            </a:r>
          </a:p>
          <a:p>
            <a:pPr>
              <a:lnSpc>
                <a:spcPts val="1300"/>
              </a:lnSpc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Collapse d-dimensional embeddings to scalar magnitudes.</a:t>
            </a:r>
          </a:p>
        </p:txBody>
      </p:sp>
      <p:sp>
        <p:nvSpPr>
          <p:cNvPr id="53" name="Text 14"/>
          <p:cNvSpPr txBox="1"/>
          <p:nvPr/>
        </p:nvSpPr>
        <p:spPr>
          <a:xfrm>
            <a:off x="3381867" y="3075765"/>
            <a:ext cx="2380266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Local Statistics Extraction</a:t>
            </a:r>
          </a:p>
        </p:txBody>
      </p:sp>
      <p:sp>
        <p:nvSpPr>
          <p:cNvPr id="54" name="Text 15"/>
          <p:cNvSpPr txBox="1"/>
          <p:nvPr/>
        </p:nvSpPr>
        <p:spPr>
          <a:xfrm>
            <a:off x="3429000" y="3397749"/>
            <a:ext cx="2286000" cy="1421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Compute three scalars capturing neighbourhood dynamics:</a:t>
            </a:r>
          </a:p>
          <a:p>
            <a:pPr>
              <a:lnSpc>
                <a:spcPts val="1300"/>
              </a:lnSpc>
              <a:defRPr sz="900"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  <a:p>
            <a:pPr>
              <a:lnSpc>
                <a:spcPts val="1300"/>
              </a:lnSpc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μᵢ - local mean (level)</a:t>
            </a:r>
          </a:p>
          <a:p>
            <a:pPr>
              <a:lnSpc>
                <a:spcPts val="1300"/>
              </a:lnSpc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σ²ᵢ - local variance (volatility)</a:t>
            </a:r>
          </a:p>
          <a:p>
            <a:pPr>
              <a:lnSpc>
                <a:spcPts val="1300"/>
              </a:lnSpc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sᵢ - finite-diff slope (trend)</a:t>
            </a:r>
          </a:p>
          <a:p>
            <a:pPr>
              <a:lnSpc>
                <a:spcPts val="1300"/>
              </a:lnSpc>
              <a:defRPr sz="900"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  <a:p>
            <a:pPr>
              <a:lnSpc>
                <a:spcPts val="1300"/>
              </a:lnSpc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cᵢ = [μᵢ, σ²ᵢ, sᵢ]ᵀ ∈ ℝ³</a:t>
            </a:r>
          </a:p>
        </p:txBody>
      </p:sp>
      <p:sp>
        <p:nvSpPr>
          <p:cNvPr id="55" name="Text 19"/>
          <p:cNvSpPr txBox="1"/>
          <p:nvPr/>
        </p:nvSpPr>
        <p:spPr>
          <a:xfrm>
            <a:off x="6262227" y="3077459"/>
            <a:ext cx="2380266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MLP Projection &amp; Position Bias</a:t>
            </a:r>
          </a:p>
        </p:txBody>
      </p:sp>
      <p:sp>
        <p:nvSpPr>
          <p:cNvPr id="56" name="Text 20"/>
          <p:cNvSpPr txBox="1"/>
          <p:nvPr/>
        </p:nvSpPr>
        <p:spPr>
          <a:xfrm>
            <a:off x="6309359" y="3397749"/>
            <a:ext cx="2286001" cy="1421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2-layer MLP with GELU:</a:t>
            </a:r>
          </a:p>
          <a:p>
            <a:pPr>
              <a:lnSpc>
                <a:spcPts val="1300"/>
              </a:lnSpc>
              <a:defRPr sz="900"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  <a:p>
            <a:pPr>
              <a:lnSpc>
                <a:spcPts val="1300"/>
              </a:lnSpc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MLP : ℝ³ → ℝ⁶⁴</a:t>
            </a:r>
          </a:p>
          <a:p>
            <a:pPr>
              <a:lnSpc>
                <a:spcPts val="1300"/>
              </a:lnSpc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x̃ᵢ = xᵢ + MLP(cᵢ)</a:t>
            </a:r>
          </a:p>
          <a:p>
            <a:pPr>
              <a:lnSpc>
                <a:spcPts val="1300"/>
              </a:lnSpc>
              <a:defRPr sz="900"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  <a:p>
            <a:pPr>
              <a:lnSpc>
                <a:spcPts val="1300"/>
              </a:lnSpc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Only ~12K parameters</a:t>
            </a:r>
          </a:p>
          <a:p>
            <a:pPr>
              <a:lnSpc>
                <a:spcPts val="1300"/>
              </a:lnSpc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Position-invariant by design</a:t>
            </a:r>
          </a:p>
          <a:p>
            <a:pPr>
              <a:lnSpc>
                <a:spcPts val="1300"/>
              </a:lnSpc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Dropout 0.1 for regularization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1"/>
          <p:cNvSpPr txBox="1"/>
          <p:nvPr/>
        </p:nvSpPr>
        <p:spPr>
          <a:xfrm>
            <a:off x="394518" y="217726"/>
            <a:ext cx="4255654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3. TOOLS AND TECHNOLOGIES</a:t>
            </a:r>
          </a:p>
        </p:txBody>
      </p:sp>
      <p:sp>
        <p:nvSpPr>
          <p:cNvPr id="59" name="Text 2"/>
          <p:cNvSpPr txBox="1"/>
          <p:nvPr/>
        </p:nvSpPr>
        <p:spPr>
          <a:xfrm>
            <a:off x="502919" y="772160"/>
            <a:ext cx="8138161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2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Technology Stack</a:t>
            </a:r>
          </a:p>
        </p:txBody>
      </p:sp>
      <p:sp>
        <p:nvSpPr>
          <p:cNvPr id="60" name="Text 4"/>
          <p:cNvSpPr txBox="1"/>
          <p:nvPr/>
        </p:nvSpPr>
        <p:spPr>
          <a:xfrm>
            <a:off x="571499" y="1401366"/>
            <a:ext cx="365760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5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PyTorch</a:t>
            </a:r>
          </a:p>
          <a:p>
            <a:pPr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Framework</a:t>
            </a:r>
          </a:p>
        </p:txBody>
      </p:sp>
      <p:sp>
        <p:nvSpPr>
          <p:cNvPr id="61" name="Text 5"/>
          <p:cNvSpPr txBox="1"/>
          <p:nvPr/>
        </p:nvSpPr>
        <p:spPr>
          <a:xfrm>
            <a:off x="571499" y="1985465"/>
            <a:ext cx="3657601" cy="471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400"/>
              </a:lnSpc>
              <a:defRPr sz="13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Deep learning framework for model implementation and training</a:t>
            </a:r>
          </a:p>
        </p:txBody>
      </p:sp>
      <p:sp>
        <p:nvSpPr>
          <p:cNvPr id="62" name="Text 7"/>
          <p:cNvSpPr txBox="1"/>
          <p:nvPr/>
        </p:nvSpPr>
        <p:spPr>
          <a:xfrm>
            <a:off x="4914900" y="1401366"/>
            <a:ext cx="365760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5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Hugging Face Accelerate</a:t>
            </a:r>
          </a:p>
          <a:p>
            <a:pPr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Training</a:t>
            </a:r>
          </a:p>
        </p:txBody>
      </p:sp>
      <p:sp>
        <p:nvSpPr>
          <p:cNvPr id="63" name="Text 8"/>
          <p:cNvSpPr txBox="1"/>
          <p:nvPr/>
        </p:nvSpPr>
        <p:spPr>
          <a:xfrm>
            <a:off x="4914900" y="1985465"/>
            <a:ext cx="3657600" cy="471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400"/>
              </a:lnSpc>
              <a:defRPr sz="13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FP16 mixed precision training to fit 8GB VRAM constraint</a:t>
            </a:r>
          </a:p>
        </p:txBody>
      </p:sp>
      <p:sp>
        <p:nvSpPr>
          <p:cNvPr id="64" name="Text 10"/>
          <p:cNvSpPr txBox="1"/>
          <p:nvPr/>
        </p:nvSpPr>
        <p:spPr>
          <a:xfrm>
            <a:off x="571499" y="2635806"/>
            <a:ext cx="365760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5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NumPy &amp; Pandas</a:t>
            </a:r>
          </a:p>
          <a:p>
            <a:pPr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Data Processing</a:t>
            </a:r>
          </a:p>
        </p:txBody>
      </p:sp>
      <p:sp>
        <p:nvSpPr>
          <p:cNvPr id="65" name="Text 11"/>
          <p:cNvSpPr txBox="1"/>
          <p:nvPr/>
        </p:nvSpPr>
        <p:spPr>
          <a:xfrm>
            <a:off x="571499" y="3219905"/>
            <a:ext cx="3657601" cy="471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400"/>
              </a:lnSpc>
              <a:defRPr sz="13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Data preprocessing, normalization, and time series manipulation</a:t>
            </a:r>
          </a:p>
        </p:txBody>
      </p:sp>
      <p:sp>
        <p:nvSpPr>
          <p:cNvPr id="66" name="Text 13"/>
          <p:cNvSpPr txBox="1"/>
          <p:nvPr/>
        </p:nvSpPr>
        <p:spPr>
          <a:xfrm>
            <a:off x="4914900" y="2635806"/>
            <a:ext cx="365760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5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Plotly</a:t>
            </a:r>
          </a:p>
          <a:p>
            <a:pPr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Visualization</a:t>
            </a:r>
          </a:p>
        </p:txBody>
      </p:sp>
      <p:sp>
        <p:nvSpPr>
          <p:cNvPr id="67" name="Text 14"/>
          <p:cNvSpPr txBox="1"/>
          <p:nvPr/>
        </p:nvSpPr>
        <p:spPr>
          <a:xfrm>
            <a:off x="4914900" y="3219905"/>
            <a:ext cx="3657600" cy="471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400"/>
              </a:lnSpc>
              <a:defRPr sz="13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Interactive visualizations for EDA and results analysis</a:t>
            </a:r>
          </a:p>
        </p:txBody>
      </p:sp>
      <p:sp>
        <p:nvSpPr>
          <p:cNvPr id="68" name="Text 16"/>
          <p:cNvSpPr txBox="1"/>
          <p:nvPr/>
        </p:nvSpPr>
        <p:spPr>
          <a:xfrm>
            <a:off x="571499" y="3870246"/>
            <a:ext cx="365760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5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Weights &amp; Biases</a:t>
            </a:r>
          </a:p>
          <a:p>
            <a:pPr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MLOps</a:t>
            </a:r>
          </a:p>
        </p:txBody>
      </p:sp>
      <p:sp>
        <p:nvSpPr>
          <p:cNvPr id="69" name="Text 17"/>
          <p:cNvSpPr txBox="1"/>
          <p:nvPr/>
        </p:nvSpPr>
        <p:spPr>
          <a:xfrm>
            <a:off x="571499" y="4454345"/>
            <a:ext cx="3657601" cy="471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400"/>
              </a:lnSpc>
              <a:defRPr sz="13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Experiment tracking, hyperparameter logging, and metrics monitoring</a:t>
            </a:r>
          </a:p>
        </p:txBody>
      </p:sp>
      <p:sp>
        <p:nvSpPr>
          <p:cNvPr id="70" name="Text 19"/>
          <p:cNvSpPr txBox="1"/>
          <p:nvPr/>
        </p:nvSpPr>
        <p:spPr>
          <a:xfrm>
            <a:off x="4914900" y="3870246"/>
            <a:ext cx="365760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5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Git &amp; GitHub</a:t>
            </a:r>
          </a:p>
          <a:p>
            <a:pPr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DevOps</a:t>
            </a:r>
          </a:p>
        </p:txBody>
      </p:sp>
      <p:sp>
        <p:nvSpPr>
          <p:cNvPr id="71" name="Text 20"/>
          <p:cNvSpPr txBox="1"/>
          <p:nvPr/>
        </p:nvSpPr>
        <p:spPr>
          <a:xfrm>
            <a:off x="4914900" y="4454345"/>
            <a:ext cx="3657600" cy="471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400"/>
              </a:lnSpc>
              <a:defRPr sz="13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Version control, collaboration, and code management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1"/>
          <p:cNvSpPr txBox="1"/>
          <p:nvPr/>
        </p:nvSpPr>
        <p:spPr>
          <a:xfrm>
            <a:off x="82022" y="274873"/>
            <a:ext cx="2798812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4. ARCHITECTURE</a:t>
            </a:r>
          </a:p>
        </p:txBody>
      </p:sp>
      <p:sp>
        <p:nvSpPr>
          <p:cNvPr id="74" name="Text 2"/>
          <p:cNvSpPr txBox="1"/>
          <p:nvPr/>
        </p:nvSpPr>
        <p:spPr>
          <a:xfrm>
            <a:off x="250381" y="774317"/>
            <a:ext cx="8138161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2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TimeDART Pipeline with xCPE</a:t>
            </a:r>
          </a:p>
        </p:txBody>
      </p:sp>
      <p:sp>
        <p:nvSpPr>
          <p:cNvPr id="75" name="Shape 3"/>
          <p:cNvSpPr/>
          <p:nvPr/>
        </p:nvSpPr>
        <p:spPr>
          <a:xfrm>
            <a:off x="252564" y="1558153"/>
            <a:ext cx="855981" cy="768320"/>
          </a:xfrm>
          <a:prstGeom prst="rect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" name="Text 4"/>
          <p:cNvSpPr txBox="1"/>
          <p:nvPr/>
        </p:nvSpPr>
        <p:spPr>
          <a:xfrm>
            <a:off x="30314" y="1706093"/>
            <a:ext cx="118872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Input</a:t>
            </a:r>
          </a:p>
          <a:p>
            <a:pPr algn="ctr"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B×T×C</a:t>
            </a:r>
          </a:p>
        </p:txBody>
      </p:sp>
      <p:sp>
        <p:nvSpPr>
          <p:cNvPr id="77" name="Shape 6"/>
          <p:cNvSpPr/>
          <p:nvPr/>
        </p:nvSpPr>
        <p:spPr>
          <a:xfrm>
            <a:off x="1375792" y="1573216"/>
            <a:ext cx="1038861" cy="738194"/>
          </a:xfrm>
          <a:prstGeom prst="rect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" name="Text 7"/>
          <p:cNvSpPr txBox="1"/>
          <p:nvPr/>
        </p:nvSpPr>
        <p:spPr>
          <a:xfrm>
            <a:off x="1300862" y="1686715"/>
            <a:ext cx="118872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Channel</a:t>
            </a:r>
          </a:p>
          <a:p>
            <a:pPr algn="ctr"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Independence</a:t>
            </a:r>
          </a:p>
        </p:txBody>
      </p:sp>
      <p:sp>
        <p:nvSpPr>
          <p:cNvPr id="79" name="Text 10"/>
          <p:cNvSpPr txBox="1"/>
          <p:nvPr/>
        </p:nvSpPr>
        <p:spPr>
          <a:xfrm>
            <a:off x="2571410" y="1610843"/>
            <a:ext cx="1188721" cy="662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Patch</a:t>
            </a:r>
          </a:p>
          <a:p>
            <a:pPr algn="ctr"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Tokenization</a:t>
            </a:r>
          </a:p>
          <a:p>
            <a:pPr algn="ctr"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P=16</a:t>
            </a:r>
          </a:p>
        </p:txBody>
      </p:sp>
      <p:sp>
        <p:nvSpPr>
          <p:cNvPr id="80" name="Text 13"/>
          <p:cNvSpPr txBox="1"/>
          <p:nvPr/>
        </p:nvSpPr>
        <p:spPr>
          <a:xfrm>
            <a:off x="3831970" y="1610988"/>
            <a:ext cx="1188721" cy="662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Linear</a:t>
            </a:r>
          </a:p>
          <a:p>
            <a:pPr algn="ctr"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Embedding</a:t>
            </a:r>
          </a:p>
          <a:p>
            <a:pPr algn="ctr"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P→d</a:t>
            </a:r>
          </a:p>
        </p:txBody>
      </p:sp>
      <p:sp>
        <p:nvSpPr>
          <p:cNvPr id="81" name="Text 16"/>
          <p:cNvSpPr txBox="1"/>
          <p:nvPr/>
        </p:nvSpPr>
        <p:spPr>
          <a:xfrm>
            <a:off x="5161109" y="1687051"/>
            <a:ext cx="118872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2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xCPE</a:t>
            </a:r>
          </a:p>
          <a:p>
            <a:pPr algn="ctr">
              <a:defRPr sz="12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Module</a:t>
            </a:r>
          </a:p>
        </p:txBody>
      </p:sp>
      <p:sp>
        <p:nvSpPr>
          <p:cNvPr id="82" name="Text 19"/>
          <p:cNvSpPr txBox="1"/>
          <p:nvPr/>
        </p:nvSpPr>
        <p:spPr>
          <a:xfrm>
            <a:off x="6450708" y="1602550"/>
            <a:ext cx="1188721" cy="662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Causal</a:t>
            </a:r>
          </a:p>
          <a:p>
            <a:pPr algn="ctr"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Transformer</a:t>
            </a:r>
          </a:p>
          <a:p>
            <a:pPr algn="ctr"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×3 layers</a:t>
            </a:r>
          </a:p>
        </p:txBody>
      </p:sp>
      <p:sp>
        <p:nvSpPr>
          <p:cNvPr id="83" name="Shape 21"/>
          <p:cNvSpPr/>
          <p:nvPr/>
        </p:nvSpPr>
        <p:spPr>
          <a:xfrm>
            <a:off x="7825739" y="1237135"/>
            <a:ext cx="960121" cy="594361"/>
          </a:xfrm>
          <a:prstGeom prst="rect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84" name="Text 22"/>
          <p:cNvSpPr txBox="1"/>
          <p:nvPr/>
        </p:nvSpPr>
        <p:spPr>
          <a:xfrm>
            <a:off x="7871459" y="1298095"/>
            <a:ext cx="86868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Diffusion</a:t>
            </a:r>
          </a:p>
          <a:p>
            <a:pPr algn="ctr"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Head</a:t>
            </a:r>
          </a:p>
        </p:txBody>
      </p:sp>
      <p:sp>
        <p:nvSpPr>
          <p:cNvPr id="85" name="Shape 23"/>
          <p:cNvSpPr/>
          <p:nvPr/>
        </p:nvSpPr>
        <p:spPr>
          <a:xfrm>
            <a:off x="7825739" y="2014375"/>
            <a:ext cx="960121" cy="594361"/>
          </a:xfrm>
          <a:prstGeom prst="rect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86" name="Text 24"/>
          <p:cNvSpPr txBox="1"/>
          <p:nvPr/>
        </p:nvSpPr>
        <p:spPr>
          <a:xfrm>
            <a:off x="7871459" y="2075335"/>
            <a:ext cx="86868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Forecast</a:t>
            </a:r>
          </a:p>
          <a:p>
            <a:pPr algn="ctr"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Head</a:t>
            </a:r>
          </a:p>
        </p:txBody>
      </p:sp>
      <p:sp>
        <p:nvSpPr>
          <p:cNvPr id="87" name="Text 26"/>
          <p:cNvSpPr txBox="1"/>
          <p:nvPr/>
        </p:nvSpPr>
        <p:spPr>
          <a:xfrm>
            <a:off x="275424" y="2751702"/>
            <a:ext cx="77724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Model Configuration</a:t>
            </a:r>
          </a:p>
        </p:txBody>
      </p:sp>
      <p:sp>
        <p:nvSpPr>
          <p:cNvPr id="88" name="Text 27"/>
          <p:cNvSpPr txBox="1"/>
          <p:nvPr/>
        </p:nvSpPr>
        <p:spPr>
          <a:xfrm>
            <a:off x="275424" y="3197179"/>
            <a:ext cx="7772401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rPr dirty="0"/>
              <a:t>Architecture:  </a:t>
            </a:r>
            <a:r>
              <a:rPr dirty="0" err="1">
                <a:latin typeface="Avenir Book"/>
                <a:ea typeface="Avenir Book"/>
                <a:cs typeface="Avenir Book"/>
                <a:sym typeface="Avenir Book"/>
              </a:rPr>
              <a:t>d</a:t>
            </a:r>
            <a:r>
              <a:rPr lang="en-US" baseline="-25000" dirty="0" err="1">
                <a:latin typeface="Avenir Book"/>
                <a:ea typeface="Avenir Book"/>
                <a:cs typeface="Avenir Book"/>
                <a:sym typeface="Avenir Book"/>
              </a:rPr>
              <a:t>model</a:t>
            </a:r>
            <a:r>
              <a:rPr dirty="0">
                <a:latin typeface="Avenir Book"/>
                <a:ea typeface="Avenir Book"/>
                <a:cs typeface="Avenir Book"/>
                <a:sym typeface="Avenir Book"/>
              </a:rPr>
              <a:t>=64  </a:t>
            </a:r>
            <a:r>
              <a:rPr lang="en-US" dirty="0">
                <a:latin typeface="Avenir Book"/>
                <a:ea typeface="Avenir Book"/>
                <a:cs typeface="Avenir Book"/>
                <a:sym typeface="Avenir Book"/>
              </a:rPr>
              <a:t>, </a:t>
            </a:r>
            <a:r>
              <a:rPr dirty="0">
                <a:latin typeface="Avenir Book"/>
                <a:ea typeface="Avenir Book"/>
                <a:cs typeface="Avenir Book"/>
                <a:sym typeface="Avenir Book"/>
              </a:rPr>
              <a:t>  </a:t>
            </a:r>
            <a:r>
              <a:rPr dirty="0" err="1">
                <a:latin typeface="Avenir Book"/>
                <a:ea typeface="Avenir Book"/>
                <a:cs typeface="Avenir Book"/>
                <a:sym typeface="Avenir Book"/>
              </a:rPr>
              <a:t>n</a:t>
            </a:r>
            <a:r>
              <a:rPr lang="en-US" baseline="-25000" dirty="0" err="1">
                <a:latin typeface="Avenir Book"/>
                <a:ea typeface="Avenir Book"/>
                <a:cs typeface="Avenir Book"/>
                <a:sym typeface="Avenir Book"/>
              </a:rPr>
              <a:t>heads</a:t>
            </a:r>
            <a:r>
              <a:rPr dirty="0">
                <a:latin typeface="Avenir Book"/>
                <a:ea typeface="Avenir Book"/>
                <a:cs typeface="Avenir Book"/>
                <a:sym typeface="Avenir Book"/>
              </a:rPr>
              <a:t>=4  </a:t>
            </a:r>
            <a:r>
              <a:rPr lang="en-US" dirty="0">
                <a:latin typeface="Avenir Book"/>
                <a:ea typeface="Avenir Book"/>
                <a:cs typeface="Avenir Book"/>
                <a:sym typeface="Avenir Book"/>
              </a:rPr>
              <a:t> , </a:t>
            </a:r>
            <a:r>
              <a:rPr dirty="0">
                <a:latin typeface="Avenir Book"/>
                <a:ea typeface="Avenir Book"/>
                <a:cs typeface="Avenir Book"/>
                <a:sym typeface="Avenir Book"/>
              </a:rPr>
              <a:t>  </a:t>
            </a:r>
            <a:r>
              <a:rPr dirty="0" err="1">
                <a:latin typeface="Avenir Book"/>
                <a:ea typeface="Avenir Book"/>
                <a:cs typeface="Avenir Book"/>
                <a:sym typeface="Avenir Book"/>
              </a:rPr>
              <a:t>n</a:t>
            </a:r>
            <a:r>
              <a:rPr lang="en-US" baseline="-25000" dirty="0" err="1">
                <a:latin typeface="Avenir Book"/>
                <a:ea typeface="Avenir Book"/>
                <a:cs typeface="Avenir Book"/>
                <a:sym typeface="Avenir Book"/>
              </a:rPr>
              <a:t>layers</a:t>
            </a:r>
            <a:r>
              <a:rPr dirty="0">
                <a:latin typeface="Avenir Book"/>
                <a:ea typeface="Avenir Book"/>
                <a:cs typeface="Avenir Book"/>
                <a:sym typeface="Avenir Book"/>
              </a:rPr>
              <a:t>=3  </a:t>
            </a:r>
            <a:r>
              <a:rPr lang="en-US" dirty="0">
                <a:latin typeface="Avenir Book"/>
                <a:ea typeface="Avenir Book"/>
                <a:cs typeface="Avenir Book"/>
                <a:sym typeface="Avenir Book"/>
              </a:rPr>
              <a:t>, </a:t>
            </a:r>
            <a:r>
              <a:rPr dirty="0">
                <a:latin typeface="Avenir Book"/>
                <a:ea typeface="Avenir Book"/>
                <a:cs typeface="Avenir Book"/>
                <a:sym typeface="Avenir Book"/>
              </a:rPr>
              <a:t>  </a:t>
            </a:r>
            <a:r>
              <a:rPr dirty="0" err="1">
                <a:latin typeface="Avenir Book"/>
                <a:ea typeface="Avenir Book"/>
                <a:cs typeface="Avenir Book"/>
                <a:sym typeface="Avenir Book"/>
              </a:rPr>
              <a:t>dff</a:t>
            </a:r>
            <a:r>
              <a:rPr dirty="0">
                <a:latin typeface="Avenir Book"/>
                <a:ea typeface="Avenir Book"/>
                <a:cs typeface="Avenir Book"/>
                <a:sym typeface="Avenir Book"/>
              </a:rPr>
              <a:t>=256  </a:t>
            </a:r>
            <a:r>
              <a:rPr lang="en-US" dirty="0">
                <a:latin typeface="Avenir Book"/>
                <a:ea typeface="Avenir Book"/>
                <a:cs typeface="Avenir Book"/>
                <a:sym typeface="Avenir Book"/>
              </a:rPr>
              <a:t>, </a:t>
            </a:r>
            <a:r>
              <a:rPr dirty="0">
                <a:latin typeface="Avenir Book"/>
                <a:ea typeface="Avenir Book"/>
                <a:cs typeface="Avenir Book"/>
                <a:sym typeface="Avenir Book"/>
              </a:rPr>
              <a:t>  dropout=0.1</a:t>
            </a:r>
          </a:p>
        </p:txBody>
      </p:sp>
      <p:sp>
        <p:nvSpPr>
          <p:cNvPr id="89" name="Text 28"/>
          <p:cNvSpPr txBox="1"/>
          <p:nvPr/>
        </p:nvSpPr>
        <p:spPr>
          <a:xfrm>
            <a:off x="275424" y="3562939"/>
            <a:ext cx="7772401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rPr dirty="0"/>
              <a:t>Pre-training:  </a:t>
            </a:r>
            <a:r>
              <a:rPr dirty="0" err="1">
                <a:latin typeface="Avenir Book"/>
                <a:ea typeface="Avenir Book"/>
                <a:cs typeface="Avenir Book"/>
                <a:sym typeface="Avenir Book"/>
              </a:rPr>
              <a:t>AdamW</a:t>
            </a:r>
            <a:r>
              <a:rPr dirty="0">
                <a:latin typeface="Avenir Book"/>
                <a:ea typeface="Avenir Book"/>
                <a:cs typeface="Avenir Book"/>
                <a:sym typeface="Avenir Book"/>
              </a:rPr>
              <a:t> (</a:t>
            </a:r>
            <a:r>
              <a:rPr dirty="0" err="1">
                <a:latin typeface="Avenir Book"/>
                <a:ea typeface="Avenir Book"/>
                <a:cs typeface="Avenir Book"/>
                <a:sym typeface="Avenir Book"/>
              </a:rPr>
              <a:t>lr</a:t>
            </a:r>
            <a:r>
              <a:rPr dirty="0">
                <a:latin typeface="Avenir Book"/>
                <a:ea typeface="Avenir Book"/>
                <a:cs typeface="Avenir Book"/>
                <a:sym typeface="Avenir Book"/>
              </a:rPr>
              <a:t>=1e-4)  </a:t>
            </a:r>
            <a:r>
              <a:rPr lang="en-US" dirty="0">
                <a:latin typeface="Avenir Book"/>
                <a:ea typeface="Avenir Book"/>
                <a:cs typeface="Avenir Book"/>
                <a:sym typeface="Avenir Book"/>
              </a:rPr>
              <a:t>,</a:t>
            </a:r>
            <a:r>
              <a:rPr dirty="0">
                <a:latin typeface="Avenir Book"/>
                <a:ea typeface="Avenir Book"/>
                <a:cs typeface="Avenir Book"/>
                <a:sym typeface="Avenir Book"/>
              </a:rPr>
              <a:t>  50 epochs  </a:t>
            </a:r>
            <a:r>
              <a:rPr lang="en-US" dirty="0">
                <a:latin typeface="Avenir Book"/>
                <a:ea typeface="Avenir Book"/>
                <a:cs typeface="Avenir Book"/>
                <a:sym typeface="Avenir Book"/>
              </a:rPr>
              <a:t>,</a:t>
            </a:r>
            <a:r>
              <a:rPr dirty="0">
                <a:latin typeface="Avenir Book"/>
                <a:ea typeface="Avenir Book"/>
                <a:cs typeface="Avenir Book"/>
                <a:sym typeface="Avenir Book"/>
              </a:rPr>
              <a:t>  Batch size 32  </a:t>
            </a:r>
            <a:r>
              <a:rPr lang="en-US" dirty="0">
                <a:latin typeface="Avenir Book"/>
                <a:ea typeface="Avenir Book"/>
                <a:cs typeface="Avenir Book"/>
                <a:sym typeface="Avenir Book"/>
              </a:rPr>
              <a:t>,</a:t>
            </a:r>
            <a:r>
              <a:rPr dirty="0">
                <a:latin typeface="Avenir Book"/>
                <a:ea typeface="Avenir Book"/>
                <a:cs typeface="Avenir Book"/>
                <a:sym typeface="Avenir Book"/>
              </a:rPr>
              <a:t>  50% patch masking</a:t>
            </a:r>
          </a:p>
        </p:txBody>
      </p:sp>
      <p:sp>
        <p:nvSpPr>
          <p:cNvPr id="90" name="Text 29"/>
          <p:cNvSpPr txBox="1"/>
          <p:nvPr/>
        </p:nvSpPr>
        <p:spPr>
          <a:xfrm>
            <a:off x="275424" y="3928699"/>
            <a:ext cx="7772401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rPr dirty="0"/>
              <a:t>Fine-tuning:  </a:t>
            </a:r>
            <a:r>
              <a:rPr dirty="0" err="1">
                <a:latin typeface="Avenir Book"/>
                <a:ea typeface="Avenir Book"/>
                <a:cs typeface="Avenir Book"/>
                <a:sym typeface="Avenir Book"/>
              </a:rPr>
              <a:t>AdamW</a:t>
            </a:r>
            <a:r>
              <a:rPr dirty="0">
                <a:latin typeface="Avenir Book"/>
                <a:ea typeface="Avenir Book"/>
                <a:cs typeface="Avenir Book"/>
                <a:sym typeface="Avenir Book"/>
              </a:rPr>
              <a:t> (</a:t>
            </a:r>
            <a:r>
              <a:rPr dirty="0" err="1">
                <a:latin typeface="Avenir Book"/>
                <a:ea typeface="Avenir Book"/>
                <a:cs typeface="Avenir Book"/>
                <a:sym typeface="Avenir Book"/>
              </a:rPr>
              <a:t>lr</a:t>
            </a:r>
            <a:r>
              <a:rPr dirty="0">
                <a:latin typeface="Avenir Book"/>
                <a:ea typeface="Avenir Book"/>
                <a:cs typeface="Avenir Book"/>
                <a:sym typeface="Avenir Book"/>
              </a:rPr>
              <a:t>=5e-5)  </a:t>
            </a:r>
            <a:r>
              <a:rPr lang="en-US" dirty="0">
                <a:latin typeface="Avenir Book"/>
                <a:ea typeface="Avenir Book"/>
                <a:cs typeface="Avenir Book"/>
                <a:sym typeface="Avenir Book"/>
              </a:rPr>
              <a:t>,</a:t>
            </a:r>
            <a:r>
              <a:rPr dirty="0">
                <a:latin typeface="Avenir Book"/>
                <a:ea typeface="Avenir Book"/>
                <a:cs typeface="Avenir Book"/>
                <a:sym typeface="Avenir Book"/>
              </a:rPr>
              <a:t>  5 warm-up epochs + 30 training epochs  </a:t>
            </a:r>
            <a:r>
              <a:rPr lang="en-US" dirty="0">
                <a:latin typeface="Avenir Book"/>
                <a:ea typeface="Avenir Book"/>
                <a:cs typeface="Avenir Book"/>
                <a:sym typeface="Avenir Book"/>
              </a:rPr>
              <a:t>,</a:t>
            </a:r>
            <a:r>
              <a:rPr dirty="0">
                <a:latin typeface="Avenir Book"/>
                <a:ea typeface="Avenir Book"/>
                <a:cs typeface="Avenir Book"/>
                <a:sym typeface="Avenir Book"/>
              </a:rPr>
              <a:t>  MSE loss</a:t>
            </a:r>
          </a:p>
        </p:txBody>
      </p:sp>
      <p:sp>
        <p:nvSpPr>
          <p:cNvPr id="91" name="Text 30"/>
          <p:cNvSpPr txBox="1"/>
          <p:nvPr/>
        </p:nvSpPr>
        <p:spPr>
          <a:xfrm>
            <a:off x="275424" y="4294459"/>
            <a:ext cx="7772401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rPr dirty="0"/>
              <a:t>Hardware:  </a:t>
            </a:r>
            <a:r>
              <a:rPr dirty="0">
                <a:latin typeface="Avenir Book"/>
                <a:ea typeface="Avenir Book"/>
                <a:cs typeface="Avenir Book"/>
                <a:sym typeface="Avenir Book"/>
              </a:rPr>
              <a:t>NVIDIA RTX 4070 (8GB VRAM)  </a:t>
            </a:r>
            <a:r>
              <a:rPr lang="en-US" dirty="0">
                <a:latin typeface="Avenir Book"/>
                <a:ea typeface="Avenir Book"/>
                <a:cs typeface="Avenir Book"/>
                <a:sym typeface="Avenir Book"/>
              </a:rPr>
              <a:t>,</a:t>
            </a:r>
            <a:r>
              <a:rPr dirty="0">
                <a:latin typeface="Avenir Book"/>
                <a:ea typeface="Avenir Book"/>
                <a:cs typeface="Avenir Book"/>
                <a:sym typeface="Avenir Book"/>
              </a:rPr>
              <a:t>  FP16 mixed precision via Accelerate</a:t>
            </a:r>
          </a:p>
        </p:txBody>
      </p:sp>
      <p:sp>
        <p:nvSpPr>
          <p:cNvPr id="92" name="Shape 6"/>
          <p:cNvSpPr/>
          <p:nvPr/>
        </p:nvSpPr>
        <p:spPr>
          <a:xfrm>
            <a:off x="2646340" y="1584110"/>
            <a:ext cx="1038861" cy="746533"/>
          </a:xfrm>
          <a:prstGeom prst="rect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93" name="Shape 6"/>
          <p:cNvSpPr/>
          <p:nvPr/>
        </p:nvSpPr>
        <p:spPr>
          <a:xfrm>
            <a:off x="3932935" y="1588279"/>
            <a:ext cx="1038861" cy="738194"/>
          </a:xfrm>
          <a:prstGeom prst="rect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94" name="Shape 6"/>
          <p:cNvSpPr/>
          <p:nvPr/>
        </p:nvSpPr>
        <p:spPr>
          <a:xfrm>
            <a:off x="5219529" y="1605293"/>
            <a:ext cx="1038862" cy="738195"/>
          </a:xfrm>
          <a:prstGeom prst="rect">
            <a:avLst/>
          </a:prstGeom>
          <a:ln w="12700">
            <a:solidFill>
              <a:srgbClr val="D4AF37"/>
            </a:solidFill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95" name="Shape 6"/>
          <p:cNvSpPr/>
          <p:nvPr/>
        </p:nvSpPr>
        <p:spPr>
          <a:xfrm>
            <a:off x="6509128" y="1607244"/>
            <a:ext cx="1038861" cy="746533"/>
          </a:xfrm>
          <a:prstGeom prst="rect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96" name="Line"/>
          <p:cNvSpPr/>
          <p:nvPr/>
        </p:nvSpPr>
        <p:spPr>
          <a:xfrm>
            <a:off x="1120061" y="1942313"/>
            <a:ext cx="220083" cy="1"/>
          </a:xfrm>
          <a:prstGeom prst="line">
            <a:avLst/>
          </a:prstGeom>
          <a:ln w="12700">
            <a:solidFill>
              <a:srgbClr val="FFFFFF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7" name="Line"/>
          <p:cNvSpPr/>
          <p:nvPr/>
        </p:nvSpPr>
        <p:spPr>
          <a:xfrm>
            <a:off x="2415461" y="1929613"/>
            <a:ext cx="220083" cy="1"/>
          </a:xfrm>
          <a:prstGeom prst="line">
            <a:avLst/>
          </a:prstGeom>
          <a:ln w="12700">
            <a:solidFill>
              <a:srgbClr val="FFFFFF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8" name="Line"/>
          <p:cNvSpPr/>
          <p:nvPr/>
        </p:nvSpPr>
        <p:spPr>
          <a:xfrm>
            <a:off x="3700314" y="1922935"/>
            <a:ext cx="220083" cy="1"/>
          </a:xfrm>
          <a:prstGeom prst="line">
            <a:avLst/>
          </a:prstGeom>
          <a:ln w="12700">
            <a:solidFill>
              <a:srgbClr val="FFFFFF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9" name="Line"/>
          <p:cNvSpPr/>
          <p:nvPr/>
        </p:nvSpPr>
        <p:spPr>
          <a:xfrm>
            <a:off x="4985033" y="1919276"/>
            <a:ext cx="220083" cy="1"/>
          </a:xfrm>
          <a:prstGeom prst="line">
            <a:avLst/>
          </a:prstGeom>
          <a:ln w="12700">
            <a:solidFill>
              <a:srgbClr val="FFFFFF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0" name="Line"/>
          <p:cNvSpPr/>
          <p:nvPr/>
        </p:nvSpPr>
        <p:spPr>
          <a:xfrm>
            <a:off x="6280567" y="1922935"/>
            <a:ext cx="220083" cy="1"/>
          </a:xfrm>
          <a:prstGeom prst="line">
            <a:avLst/>
          </a:prstGeom>
          <a:ln w="12700">
            <a:solidFill>
              <a:srgbClr val="FFFFFF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" name="Line"/>
          <p:cNvSpPr/>
          <p:nvPr/>
        </p:nvSpPr>
        <p:spPr>
          <a:xfrm>
            <a:off x="7564587" y="1922935"/>
            <a:ext cx="220083" cy="1"/>
          </a:xfrm>
          <a:prstGeom prst="line">
            <a:avLst/>
          </a:prstGeom>
          <a:ln w="12700">
            <a:solidFill>
              <a:srgbClr val="FFFFFF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1"/>
          <p:cNvSpPr txBox="1"/>
          <p:nvPr/>
        </p:nvSpPr>
        <p:spPr>
          <a:xfrm>
            <a:off x="281948" y="218311"/>
            <a:ext cx="219456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 b="1">
                <a:solidFill>
                  <a:srgbClr val="D4AF37"/>
                </a:solidFill>
              </a:defRPr>
            </a:lvl1pPr>
          </a:lstStyle>
          <a:p>
            <a:r>
              <a:t>4. ARCHITECTURE</a:t>
            </a:r>
          </a:p>
        </p:txBody>
      </p:sp>
      <p:sp>
        <p:nvSpPr>
          <p:cNvPr id="104" name="Text 2"/>
          <p:cNvSpPr txBox="1"/>
          <p:nvPr/>
        </p:nvSpPr>
        <p:spPr>
          <a:xfrm>
            <a:off x="397695" y="723959"/>
            <a:ext cx="813816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 b="1">
                <a:solidFill>
                  <a:srgbClr val="FFFFFF"/>
                </a:solidFill>
              </a:defRPr>
            </a:lvl1pPr>
          </a:lstStyle>
          <a:p>
            <a:r>
              <a:t>xCPE Module - Detailed Architecture</a:t>
            </a:r>
          </a:p>
        </p:txBody>
      </p:sp>
      <p:sp>
        <p:nvSpPr>
          <p:cNvPr id="105" name="Shape 3"/>
          <p:cNvSpPr/>
          <p:nvPr/>
        </p:nvSpPr>
        <p:spPr>
          <a:xfrm>
            <a:off x="228599" y="1543957"/>
            <a:ext cx="2560322" cy="3383281"/>
          </a:xfrm>
          <a:prstGeom prst="rect">
            <a:avLst/>
          </a:prstGeom>
          <a:ln w="12700">
            <a:solidFill>
              <a:srgbClr val="D4AF37"/>
            </a:solidFill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106" name="Shape 4"/>
          <p:cNvSpPr/>
          <p:nvPr/>
        </p:nvSpPr>
        <p:spPr>
          <a:xfrm>
            <a:off x="228599" y="1543957"/>
            <a:ext cx="2560322" cy="411481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7" name="Text 5"/>
          <p:cNvSpPr txBox="1"/>
          <p:nvPr/>
        </p:nvSpPr>
        <p:spPr>
          <a:xfrm>
            <a:off x="274319" y="1625545"/>
            <a:ext cx="24688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 b="1"/>
            </a:lvl1pPr>
          </a:lstStyle>
          <a:p>
            <a:r>
              <a:t>INPUT</a:t>
            </a:r>
          </a:p>
        </p:txBody>
      </p:sp>
      <p:sp>
        <p:nvSpPr>
          <p:cNvPr id="108" name="Text 6"/>
          <p:cNvSpPr txBox="1"/>
          <p:nvPr/>
        </p:nvSpPr>
        <p:spPr>
          <a:xfrm>
            <a:off x="457199" y="2343377"/>
            <a:ext cx="210312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Patch Embeddings</a:t>
            </a:r>
          </a:p>
          <a:p>
            <a: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x ∈ ℝB×L×d</a:t>
            </a:r>
          </a:p>
        </p:txBody>
      </p:sp>
      <p:sp>
        <p:nvSpPr>
          <p:cNvPr id="109" name="Text 7"/>
          <p:cNvSpPr txBox="1"/>
          <p:nvPr/>
        </p:nvSpPr>
        <p:spPr>
          <a:xfrm>
            <a:off x="457199" y="2871697"/>
            <a:ext cx="210312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Neighbourhood Gathering</a:t>
            </a:r>
          </a:p>
          <a:p>
            <a: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Nᵢ = {xᵢ₋₁, xᵢ, xᵢ₊₁}</a:t>
            </a:r>
          </a:p>
          <a:p>
            <a: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Zero-pad at edges</a:t>
            </a:r>
          </a:p>
        </p:txBody>
      </p:sp>
      <p:sp>
        <p:nvSpPr>
          <p:cNvPr id="110" name="Text 8"/>
          <p:cNvSpPr txBox="1"/>
          <p:nvPr/>
        </p:nvSpPr>
        <p:spPr>
          <a:xfrm>
            <a:off x="457199" y="3534637"/>
            <a:ext cx="210312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Feature Collapse</a:t>
            </a:r>
          </a:p>
          <a:p>
            <a: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vⱼ = (1/d) Σₖ xⱼ,ₖ</a:t>
            </a:r>
          </a:p>
          <a:p>
            <a: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Average over features</a:t>
            </a:r>
          </a:p>
        </p:txBody>
      </p:sp>
      <p:sp>
        <p:nvSpPr>
          <p:cNvPr id="111" name="Text 9"/>
          <p:cNvSpPr txBox="1"/>
          <p:nvPr/>
        </p:nvSpPr>
        <p:spPr>
          <a:xfrm>
            <a:off x="457199" y="4172177"/>
            <a:ext cx="210312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venir Book Oblique"/>
                <a:ea typeface="Avenir Book Oblique"/>
                <a:cs typeface="Avenir Book Oblique"/>
                <a:sym typeface="Avenir Book Oblique"/>
              </a:defRPr>
            </a:pPr>
            <a:r>
              <a:t>3 scalar magnitudes</a:t>
            </a:r>
          </a:p>
          <a:p>
            <a:pPr algn="ctr">
              <a:defRPr sz="1000">
                <a:solidFill>
                  <a:srgbClr val="FFFFFF"/>
                </a:solidFill>
                <a:latin typeface="Avenir Book Oblique"/>
                <a:ea typeface="Avenir Book Oblique"/>
                <a:cs typeface="Avenir Book Oblique"/>
                <a:sym typeface="Avenir Book Oblique"/>
              </a:defRPr>
            </a:pPr>
            <a:r>
              <a:t>per neighbourhood</a:t>
            </a:r>
          </a:p>
        </p:txBody>
      </p:sp>
      <p:sp>
        <p:nvSpPr>
          <p:cNvPr id="112" name="Shape 10"/>
          <p:cNvSpPr/>
          <p:nvPr/>
        </p:nvSpPr>
        <p:spPr>
          <a:xfrm>
            <a:off x="2880360" y="2915557"/>
            <a:ext cx="457201" cy="365761"/>
          </a:xfrm>
          <a:prstGeom prst="rightArrow">
            <a:avLst>
              <a:gd name="adj1" fmla="val 50000"/>
              <a:gd name="adj2" fmla="val 50000"/>
            </a:avLst>
          </a:prstGeom>
          <a:ln w="12700">
            <a:solidFill>
              <a:srgbClr val="D4AF37"/>
            </a:solidFill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3" name="Shape 11"/>
          <p:cNvSpPr/>
          <p:nvPr/>
        </p:nvSpPr>
        <p:spPr>
          <a:xfrm>
            <a:off x="3429000" y="1543957"/>
            <a:ext cx="2560321" cy="3383281"/>
          </a:xfrm>
          <a:prstGeom prst="rect">
            <a:avLst/>
          </a:prstGeom>
          <a:ln w="12700">
            <a:solidFill>
              <a:srgbClr val="D4AF37"/>
            </a:solidFill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" name="Shape 12"/>
          <p:cNvSpPr/>
          <p:nvPr/>
        </p:nvSpPr>
        <p:spPr>
          <a:xfrm>
            <a:off x="3429000" y="1543957"/>
            <a:ext cx="2560321" cy="411481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5" name="Text 13"/>
          <p:cNvSpPr txBox="1"/>
          <p:nvPr/>
        </p:nvSpPr>
        <p:spPr>
          <a:xfrm>
            <a:off x="3474720" y="1625545"/>
            <a:ext cx="24688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 b="1">
                <a:solidFill>
                  <a:srgbClr val="1C1C1C"/>
                </a:solidFill>
              </a:defRPr>
            </a:lvl1pPr>
          </a:lstStyle>
          <a:p>
            <a:r>
              <a:t>STATISTICS</a:t>
            </a:r>
          </a:p>
        </p:txBody>
      </p:sp>
      <p:sp>
        <p:nvSpPr>
          <p:cNvPr id="116" name="Text 14"/>
          <p:cNvSpPr txBox="1"/>
          <p:nvPr/>
        </p:nvSpPr>
        <p:spPr>
          <a:xfrm>
            <a:off x="3686810" y="2226852"/>
            <a:ext cx="210312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μᵢ  =  (1/3) Σⱼ vⱼ</a:t>
            </a:r>
          </a:p>
        </p:txBody>
      </p:sp>
      <p:sp>
        <p:nvSpPr>
          <p:cNvPr id="117" name="Text 15"/>
          <p:cNvSpPr txBox="1"/>
          <p:nvPr/>
        </p:nvSpPr>
        <p:spPr>
          <a:xfrm>
            <a:off x="3686810" y="2532541"/>
            <a:ext cx="2103121" cy="435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ts val="1300"/>
              </a:lnSpc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Local Mean</a:t>
            </a:r>
          </a:p>
          <a:p>
            <a:pPr algn="ctr">
              <a:lnSpc>
                <a:spcPts val="1300"/>
              </a:lnSpc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(level)</a:t>
            </a:r>
          </a:p>
        </p:txBody>
      </p:sp>
      <p:sp>
        <p:nvSpPr>
          <p:cNvPr id="118" name="Text 16"/>
          <p:cNvSpPr txBox="1"/>
          <p:nvPr/>
        </p:nvSpPr>
        <p:spPr>
          <a:xfrm>
            <a:off x="3686810" y="3004037"/>
            <a:ext cx="210312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σ²ᵢ  =  (1/3) Σⱼ (vⱼ-μᵢ)²</a:t>
            </a:r>
          </a:p>
        </p:txBody>
      </p:sp>
      <p:sp>
        <p:nvSpPr>
          <p:cNvPr id="119" name="Text 17"/>
          <p:cNvSpPr txBox="1"/>
          <p:nvPr/>
        </p:nvSpPr>
        <p:spPr>
          <a:xfrm>
            <a:off x="3686810" y="3309726"/>
            <a:ext cx="2103121" cy="435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ts val="1300"/>
              </a:lnSpc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Local Variance</a:t>
            </a:r>
          </a:p>
          <a:p>
            <a:pPr algn="ctr">
              <a:lnSpc>
                <a:spcPts val="1300"/>
              </a:lnSpc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(volatility)</a:t>
            </a:r>
          </a:p>
        </p:txBody>
      </p:sp>
      <p:sp>
        <p:nvSpPr>
          <p:cNvPr id="120" name="Text 18"/>
          <p:cNvSpPr txBox="1"/>
          <p:nvPr/>
        </p:nvSpPr>
        <p:spPr>
          <a:xfrm>
            <a:off x="3657600" y="3815594"/>
            <a:ext cx="210312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sᵢ  =  (vᵢ₊₁ - vᵢ₋₁)/2</a:t>
            </a:r>
          </a:p>
        </p:txBody>
      </p:sp>
      <p:sp>
        <p:nvSpPr>
          <p:cNvPr id="121" name="Text 19"/>
          <p:cNvSpPr txBox="1"/>
          <p:nvPr/>
        </p:nvSpPr>
        <p:spPr>
          <a:xfrm>
            <a:off x="3657600" y="4121283"/>
            <a:ext cx="2103121" cy="435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ts val="1300"/>
              </a:lnSpc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Local Slope</a:t>
            </a:r>
          </a:p>
          <a:p>
            <a:pPr algn="ctr">
              <a:lnSpc>
                <a:spcPts val="1300"/>
              </a:lnSpc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(trend)</a:t>
            </a:r>
          </a:p>
        </p:txBody>
      </p:sp>
      <p:sp>
        <p:nvSpPr>
          <p:cNvPr id="122" name="Text 21"/>
          <p:cNvSpPr txBox="1"/>
          <p:nvPr/>
        </p:nvSpPr>
        <p:spPr>
          <a:xfrm>
            <a:off x="4065427" y="4558462"/>
            <a:ext cx="1287466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cᵢ = [μᵢ, σ²ᵢ, sᵢ]ᵀ ∈ ℝ³</a:t>
            </a:r>
          </a:p>
        </p:txBody>
      </p:sp>
      <p:sp>
        <p:nvSpPr>
          <p:cNvPr id="123" name="Shape 22"/>
          <p:cNvSpPr/>
          <p:nvPr/>
        </p:nvSpPr>
        <p:spPr>
          <a:xfrm>
            <a:off x="6080759" y="2915557"/>
            <a:ext cx="457201" cy="365761"/>
          </a:xfrm>
          <a:prstGeom prst="rightArrow">
            <a:avLst>
              <a:gd name="adj1" fmla="val 50000"/>
              <a:gd name="adj2" fmla="val 50000"/>
            </a:avLst>
          </a:prstGeom>
          <a:ln w="12700">
            <a:solidFill>
              <a:srgbClr val="D4AF37"/>
            </a:solidFill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4" name="Shape 23"/>
          <p:cNvSpPr/>
          <p:nvPr/>
        </p:nvSpPr>
        <p:spPr>
          <a:xfrm>
            <a:off x="6629400" y="1543957"/>
            <a:ext cx="2286000" cy="3383281"/>
          </a:xfrm>
          <a:prstGeom prst="rect">
            <a:avLst/>
          </a:prstGeom>
          <a:ln w="12700">
            <a:solidFill>
              <a:srgbClr val="D4AF37"/>
            </a:solidFill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5" name="Shape 24"/>
          <p:cNvSpPr/>
          <p:nvPr/>
        </p:nvSpPr>
        <p:spPr>
          <a:xfrm>
            <a:off x="6629400" y="1543957"/>
            <a:ext cx="2286000" cy="411481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6" name="Text 25"/>
          <p:cNvSpPr txBox="1"/>
          <p:nvPr/>
        </p:nvSpPr>
        <p:spPr>
          <a:xfrm>
            <a:off x="6675119" y="1625545"/>
            <a:ext cx="2194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 b="1"/>
            </a:lvl1pPr>
          </a:lstStyle>
          <a:p>
            <a:r>
              <a:t>MLP &amp; OUTPUT</a:t>
            </a:r>
          </a:p>
        </p:txBody>
      </p:sp>
      <p:sp>
        <p:nvSpPr>
          <p:cNvPr id="127" name="Text 26"/>
          <p:cNvSpPr txBox="1"/>
          <p:nvPr/>
        </p:nvSpPr>
        <p:spPr>
          <a:xfrm>
            <a:off x="6858000" y="2143397"/>
            <a:ext cx="1828800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2-Layer MLP</a:t>
            </a:r>
          </a:p>
          <a:p>
            <a:pPr algn="ctr">
              <a:defRPr sz="10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ℝ³ → ℝ⁶⁴ → ℝ⁶⁴</a:t>
            </a:r>
          </a:p>
        </p:txBody>
      </p:sp>
      <p:sp>
        <p:nvSpPr>
          <p:cNvPr id="128" name="Text 27"/>
          <p:cNvSpPr txBox="1"/>
          <p:nvPr/>
        </p:nvSpPr>
        <p:spPr>
          <a:xfrm>
            <a:off x="6858000" y="2737059"/>
            <a:ext cx="1828800" cy="706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ts val="1600"/>
              </a:lnSpc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GELU activation</a:t>
            </a:r>
          </a:p>
          <a:p>
            <a:pPr algn="ctr">
              <a:lnSpc>
                <a:spcPts val="1600"/>
              </a:lnSpc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Dropout 0.1</a:t>
            </a:r>
          </a:p>
          <a:p>
            <a:pPr algn="ctr">
              <a:lnSpc>
                <a:spcPts val="1600"/>
              </a:lnSpc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12K parameters</a:t>
            </a:r>
          </a:p>
        </p:txBody>
      </p:sp>
      <p:sp>
        <p:nvSpPr>
          <p:cNvPr id="129" name="Text 29"/>
          <p:cNvSpPr txBox="1"/>
          <p:nvPr/>
        </p:nvSpPr>
        <p:spPr>
          <a:xfrm>
            <a:off x="6858000" y="3560717"/>
            <a:ext cx="1828800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Position Bias</a:t>
            </a:r>
          </a:p>
          <a:p>
            <a:pPr algn="ctr">
              <a:defRPr sz="10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x̃ᵢ = xᵢ + MLP(cᵢ)</a:t>
            </a:r>
          </a:p>
        </p:txBody>
      </p:sp>
      <p:sp>
        <p:nvSpPr>
          <p:cNvPr id="130" name="Text 30"/>
          <p:cNvSpPr txBox="1"/>
          <p:nvPr/>
        </p:nvSpPr>
        <p:spPr>
          <a:xfrm>
            <a:off x="6858000" y="4225562"/>
            <a:ext cx="1828800" cy="488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ts val="1600"/>
              </a:lnSpc>
              <a:defRPr sz="1000" b="1">
                <a:solidFill>
                  <a:srgbClr val="5CB85C"/>
                </a:solidFill>
              </a:defRPr>
            </a:pPr>
            <a:r>
              <a:t>Position-invariant</a:t>
            </a:r>
          </a:p>
          <a:p>
            <a:pPr algn="ctr">
              <a:lnSpc>
                <a:spcPts val="1600"/>
              </a:lnSpc>
              <a:defRPr sz="1000" b="1">
                <a:solidFill>
                  <a:srgbClr val="5CB85C"/>
                </a:solidFill>
              </a:defRPr>
            </a:pPr>
            <a:r>
              <a:t>Content-conditioned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1"/>
          <p:cNvSpPr txBox="1"/>
          <p:nvPr/>
        </p:nvSpPr>
        <p:spPr>
          <a:xfrm>
            <a:off x="201450" y="250464"/>
            <a:ext cx="1775950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 b="1">
                <a:solidFill>
                  <a:srgbClr val="D4AF37"/>
                </a:solidFill>
              </a:defRPr>
            </a:lvl1pPr>
          </a:lstStyle>
          <a:p>
            <a:r>
              <a:t>5. LIVE DEMO</a:t>
            </a:r>
          </a:p>
        </p:txBody>
      </p:sp>
      <p:sp>
        <p:nvSpPr>
          <p:cNvPr id="133" name="Text 2"/>
          <p:cNvSpPr txBox="1"/>
          <p:nvPr/>
        </p:nvSpPr>
        <p:spPr>
          <a:xfrm>
            <a:off x="502919" y="2050484"/>
            <a:ext cx="8138161" cy="653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4400" b="1">
                <a:solidFill>
                  <a:srgbClr val="FFFFFF"/>
                </a:solidFill>
              </a:defRPr>
            </a:lvl1pPr>
          </a:lstStyle>
          <a:p>
            <a:r>
              <a:t>LIVE DEMONSTRATION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1"/>
          <p:cNvSpPr txBox="1"/>
          <p:nvPr/>
        </p:nvSpPr>
        <p:spPr>
          <a:xfrm>
            <a:off x="166201" y="191086"/>
            <a:ext cx="2363622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6. EVALUATION</a:t>
            </a:r>
          </a:p>
        </p:txBody>
      </p:sp>
      <p:sp>
        <p:nvSpPr>
          <p:cNvPr id="136" name="Text 2"/>
          <p:cNvSpPr txBox="1"/>
          <p:nvPr/>
        </p:nvSpPr>
        <p:spPr>
          <a:xfrm>
            <a:off x="324038" y="698016"/>
            <a:ext cx="8138161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2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Performance Evaluation Setup</a:t>
            </a:r>
          </a:p>
        </p:txBody>
      </p:sp>
      <p:sp>
        <p:nvSpPr>
          <p:cNvPr id="137" name="Text 3"/>
          <p:cNvSpPr txBox="1"/>
          <p:nvPr/>
        </p:nvSpPr>
        <p:spPr>
          <a:xfrm>
            <a:off x="324038" y="1454199"/>
            <a:ext cx="813816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Benchmark Datasets</a:t>
            </a:r>
          </a:p>
        </p:txBody>
      </p:sp>
      <p:sp>
        <p:nvSpPr>
          <p:cNvPr id="138" name="Shape 4"/>
          <p:cNvSpPr/>
          <p:nvPr/>
        </p:nvSpPr>
        <p:spPr>
          <a:xfrm>
            <a:off x="457200" y="1874520"/>
            <a:ext cx="2743200" cy="1234441"/>
          </a:xfrm>
          <a:prstGeom prst="rect">
            <a:avLst/>
          </a:prstGeom>
          <a:ln w="12700">
            <a:solidFill>
              <a:srgbClr val="D4AF37"/>
            </a:solidFill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139" name="Shape 5"/>
          <p:cNvSpPr/>
          <p:nvPr/>
        </p:nvSpPr>
        <p:spPr>
          <a:xfrm>
            <a:off x="457200" y="1874520"/>
            <a:ext cx="2743200" cy="365761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140" name="Text 6"/>
          <p:cNvSpPr txBox="1"/>
          <p:nvPr/>
        </p:nvSpPr>
        <p:spPr>
          <a:xfrm>
            <a:off x="502919" y="1891029"/>
            <a:ext cx="2651762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ETTh1</a:t>
            </a:r>
          </a:p>
        </p:txBody>
      </p:sp>
      <p:sp>
        <p:nvSpPr>
          <p:cNvPr id="141" name="Text 7"/>
          <p:cNvSpPr txBox="1"/>
          <p:nvPr/>
        </p:nvSpPr>
        <p:spPr>
          <a:xfrm>
            <a:off x="685800" y="2279396"/>
            <a:ext cx="22860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Steps: 17,420</a:t>
            </a:r>
          </a:p>
        </p:txBody>
      </p:sp>
      <p:sp>
        <p:nvSpPr>
          <p:cNvPr id="142" name="Text 8"/>
          <p:cNvSpPr txBox="1"/>
          <p:nvPr/>
        </p:nvSpPr>
        <p:spPr>
          <a:xfrm>
            <a:off x="685800" y="2462275"/>
            <a:ext cx="22860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Variates: 7</a:t>
            </a:r>
          </a:p>
        </p:txBody>
      </p:sp>
      <p:sp>
        <p:nvSpPr>
          <p:cNvPr id="143" name="Text 9"/>
          <p:cNvSpPr txBox="1"/>
          <p:nvPr/>
        </p:nvSpPr>
        <p:spPr>
          <a:xfrm>
            <a:off x="685800" y="2645155"/>
            <a:ext cx="22860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Frequency: 1h</a:t>
            </a:r>
          </a:p>
        </p:txBody>
      </p:sp>
      <p:sp>
        <p:nvSpPr>
          <p:cNvPr id="144" name="Text 10"/>
          <p:cNvSpPr txBox="1"/>
          <p:nvPr/>
        </p:nvSpPr>
        <p:spPr>
          <a:xfrm>
            <a:off x="685800" y="2828035"/>
            <a:ext cx="22860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Split: 60/20/20</a:t>
            </a:r>
          </a:p>
        </p:txBody>
      </p:sp>
      <p:sp>
        <p:nvSpPr>
          <p:cNvPr id="145" name="Shape 18"/>
          <p:cNvSpPr/>
          <p:nvPr/>
        </p:nvSpPr>
        <p:spPr>
          <a:xfrm>
            <a:off x="3200400" y="1878260"/>
            <a:ext cx="2743201" cy="1234441"/>
          </a:xfrm>
          <a:prstGeom prst="rect">
            <a:avLst/>
          </a:prstGeom>
          <a:ln w="12700">
            <a:solidFill>
              <a:srgbClr val="D4AF37"/>
            </a:solidFill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146" name="Shape 19"/>
          <p:cNvSpPr/>
          <p:nvPr/>
        </p:nvSpPr>
        <p:spPr>
          <a:xfrm>
            <a:off x="3200400" y="1865560"/>
            <a:ext cx="2743201" cy="365761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147" name="Text 20"/>
          <p:cNvSpPr txBox="1"/>
          <p:nvPr/>
        </p:nvSpPr>
        <p:spPr>
          <a:xfrm>
            <a:off x="3246120" y="1882070"/>
            <a:ext cx="265176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Weather</a:t>
            </a:r>
          </a:p>
        </p:txBody>
      </p:sp>
      <p:sp>
        <p:nvSpPr>
          <p:cNvPr id="148" name="Text 21"/>
          <p:cNvSpPr txBox="1"/>
          <p:nvPr/>
        </p:nvSpPr>
        <p:spPr>
          <a:xfrm>
            <a:off x="3429000" y="2270436"/>
            <a:ext cx="22860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Steps: 52,696</a:t>
            </a:r>
          </a:p>
        </p:txBody>
      </p:sp>
      <p:sp>
        <p:nvSpPr>
          <p:cNvPr id="149" name="Text 22"/>
          <p:cNvSpPr txBox="1"/>
          <p:nvPr/>
        </p:nvSpPr>
        <p:spPr>
          <a:xfrm>
            <a:off x="3429000" y="2453316"/>
            <a:ext cx="22860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Variates: 21</a:t>
            </a:r>
          </a:p>
        </p:txBody>
      </p:sp>
      <p:sp>
        <p:nvSpPr>
          <p:cNvPr id="150" name="Text 23"/>
          <p:cNvSpPr txBox="1"/>
          <p:nvPr/>
        </p:nvSpPr>
        <p:spPr>
          <a:xfrm>
            <a:off x="3429000" y="2636196"/>
            <a:ext cx="22860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Frequency: 10min</a:t>
            </a:r>
          </a:p>
        </p:txBody>
      </p:sp>
      <p:sp>
        <p:nvSpPr>
          <p:cNvPr id="151" name="Text 24"/>
          <p:cNvSpPr txBox="1"/>
          <p:nvPr/>
        </p:nvSpPr>
        <p:spPr>
          <a:xfrm>
            <a:off x="3429000" y="2819076"/>
            <a:ext cx="22860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Split: 70/10/20</a:t>
            </a:r>
          </a:p>
        </p:txBody>
      </p:sp>
      <p:sp>
        <p:nvSpPr>
          <p:cNvPr id="152" name="Text 25"/>
          <p:cNvSpPr txBox="1"/>
          <p:nvPr/>
        </p:nvSpPr>
        <p:spPr>
          <a:xfrm>
            <a:off x="324038" y="3326628"/>
            <a:ext cx="402336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Performance Metrics</a:t>
            </a:r>
          </a:p>
        </p:txBody>
      </p:sp>
      <p:sp>
        <p:nvSpPr>
          <p:cNvPr id="153" name="Text 27"/>
          <p:cNvSpPr txBox="1"/>
          <p:nvPr/>
        </p:nvSpPr>
        <p:spPr>
          <a:xfrm>
            <a:off x="370126" y="3794759"/>
            <a:ext cx="3657601" cy="1056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MSE (Mean Squared Error)</a:t>
            </a:r>
          </a:p>
          <a:p>
            <a:pPr>
              <a:defRPr sz="11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Primary metric: MSE = (1/n) Σ(ŷᵢ - yᵢ)²</a:t>
            </a:r>
          </a:p>
          <a:p>
            <a:pPr>
              <a:defRPr sz="12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endParaRPr sz="1000">
              <a:solidFill>
                <a:srgbClr val="FFFFFF"/>
              </a:solidFill>
              <a:latin typeface="Avenir Book"/>
              <a:ea typeface="Avenir Book"/>
              <a:cs typeface="Avenir Book"/>
              <a:sym typeface="Avenir Book"/>
            </a:endParaRPr>
          </a:p>
          <a:p>
            <a:pPr>
              <a:defRPr sz="1200"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MAE (Mean Absolute Error)</a:t>
            </a:r>
          </a:p>
          <a:p>
            <a:pPr>
              <a:defRPr sz="11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Secondary metric: MAE = (1/n) Σ|ŷᵢ - yᵢ|</a:t>
            </a:r>
          </a:p>
        </p:txBody>
      </p:sp>
      <p:sp>
        <p:nvSpPr>
          <p:cNvPr id="154" name="Text 28"/>
          <p:cNvSpPr txBox="1"/>
          <p:nvPr/>
        </p:nvSpPr>
        <p:spPr>
          <a:xfrm>
            <a:off x="4811122" y="3368752"/>
            <a:ext cx="384048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Experimental Design</a:t>
            </a:r>
          </a:p>
        </p:txBody>
      </p:sp>
      <p:sp>
        <p:nvSpPr>
          <p:cNvPr id="155" name="Shape 30"/>
          <p:cNvSpPr/>
          <p:nvPr/>
        </p:nvSpPr>
        <p:spPr>
          <a:xfrm>
            <a:off x="4839427" y="3881558"/>
            <a:ext cx="73153" cy="73153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156" name="Text 31"/>
          <p:cNvSpPr txBox="1"/>
          <p:nvPr/>
        </p:nvSpPr>
        <p:spPr>
          <a:xfrm>
            <a:off x="5032830" y="3758662"/>
            <a:ext cx="3840480" cy="28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Forecast Horizons: H ∈ {96, 192, 336, 720} steps</a:t>
            </a:r>
          </a:p>
        </p:txBody>
      </p:sp>
      <p:sp>
        <p:nvSpPr>
          <p:cNvPr id="157" name="Shape 32"/>
          <p:cNvSpPr/>
          <p:nvPr/>
        </p:nvSpPr>
        <p:spPr>
          <a:xfrm>
            <a:off x="4839427" y="4155878"/>
            <a:ext cx="73153" cy="73153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158" name="Text 33"/>
          <p:cNvSpPr txBox="1"/>
          <p:nvPr/>
        </p:nvSpPr>
        <p:spPr>
          <a:xfrm>
            <a:off x="5032830" y="4032982"/>
            <a:ext cx="3840480" cy="28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Model Variants: 5 (baseline, xCPE all/early/late, RoPE)</a:t>
            </a:r>
          </a:p>
        </p:txBody>
      </p:sp>
      <p:sp>
        <p:nvSpPr>
          <p:cNvPr id="159" name="Shape 34"/>
          <p:cNvSpPr/>
          <p:nvPr/>
        </p:nvSpPr>
        <p:spPr>
          <a:xfrm>
            <a:off x="4839427" y="4430198"/>
            <a:ext cx="73153" cy="73153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160" name="Text 35"/>
          <p:cNvSpPr txBox="1"/>
          <p:nvPr/>
        </p:nvSpPr>
        <p:spPr>
          <a:xfrm>
            <a:off x="5032830" y="4307302"/>
            <a:ext cx="3840480" cy="28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Random Seeds: 3 per configuration (42, 123, 456)</a:t>
            </a:r>
          </a:p>
        </p:txBody>
      </p:sp>
      <p:sp>
        <p:nvSpPr>
          <p:cNvPr id="161" name="Shape 36"/>
          <p:cNvSpPr/>
          <p:nvPr/>
        </p:nvSpPr>
        <p:spPr>
          <a:xfrm>
            <a:off x="4839427" y="4704519"/>
            <a:ext cx="73153" cy="73153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162" name="Text 37"/>
          <p:cNvSpPr txBox="1"/>
          <p:nvPr/>
        </p:nvSpPr>
        <p:spPr>
          <a:xfrm>
            <a:off x="5032830" y="4581622"/>
            <a:ext cx="3429001" cy="28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Total Experiments: 60 runs per dataset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1"/>
          <p:cNvSpPr txBox="1"/>
          <p:nvPr/>
        </p:nvSpPr>
        <p:spPr>
          <a:xfrm>
            <a:off x="313516" y="314324"/>
            <a:ext cx="1917677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7. RESULTS</a:t>
            </a:r>
          </a:p>
        </p:txBody>
      </p:sp>
      <p:sp>
        <p:nvSpPr>
          <p:cNvPr id="165" name="Text 2"/>
          <p:cNvSpPr txBox="1"/>
          <p:nvPr/>
        </p:nvSpPr>
        <p:spPr>
          <a:xfrm>
            <a:off x="376650" y="803910"/>
            <a:ext cx="8138161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ETTh1 Dataset - Performance Results</a:t>
            </a:r>
          </a:p>
        </p:txBody>
      </p:sp>
      <p:sp>
        <p:nvSpPr>
          <p:cNvPr id="166" name="Text 3"/>
          <p:cNvSpPr txBox="1"/>
          <p:nvPr/>
        </p:nvSpPr>
        <p:spPr>
          <a:xfrm>
            <a:off x="418740" y="1433194"/>
            <a:ext cx="52120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MSE (Mean Squared Error) - Lower is Better</a:t>
            </a:r>
          </a:p>
        </p:txBody>
      </p:sp>
      <p:sp>
        <p:nvSpPr>
          <p:cNvPr id="167" name="Shape 4"/>
          <p:cNvSpPr/>
          <p:nvPr/>
        </p:nvSpPr>
        <p:spPr>
          <a:xfrm>
            <a:off x="457199" y="1783079"/>
            <a:ext cx="5303522" cy="411481"/>
          </a:xfrm>
          <a:prstGeom prst="rect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168" name="Text 5"/>
          <p:cNvSpPr txBox="1"/>
          <p:nvPr/>
        </p:nvSpPr>
        <p:spPr>
          <a:xfrm>
            <a:off x="502919" y="1847849"/>
            <a:ext cx="1371602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Variant</a:t>
            </a:r>
          </a:p>
        </p:txBody>
      </p:sp>
      <p:sp>
        <p:nvSpPr>
          <p:cNvPr id="169" name="Text 6"/>
          <p:cNvSpPr txBox="1"/>
          <p:nvPr/>
        </p:nvSpPr>
        <p:spPr>
          <a:xfrm>
            <a:off x="1965960" y="1847849"/>
            <a:ext cx="86868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H=96</a:t>
            </a:r>
          </a:p>
        </p:txBody>
      </p:sp>
      <p:sp>
        <p:nvSpPr>
          <p:cNvPr id="170" name="Text 7"/>
          <p:cNvSpPr txBox="1"/>
          <p:nvPr/>
        </p:nvSpPr>
        <p:spPr>
          <a:xfrm>
            <a:off x="2926080" y="1847849"/>
            <a:ext cx="86868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H=192</a:t>
            </a:r>
          </a:p>
        </p:txBody>
      </p:sp>
      <p:sp>
        <p:nvSpPr>
          <p:cNvPr id="171" name="Text 8"/>
          <p:cNvSpPr txBox="1"/>
          <p:nvPr/>
        </p:nvSpPr>
        <p:spPr>
          <a:xfrm>
            <a:off x="3886200" y="1847849"/>
            <a:ext cx="86868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H=336</a:t>
            </a:r>
          </a:p>
        </p:txBody>
      </p:sp>
      <p:sp>
        <p:nvSpPr>
          <p:cNvPr id="172" name="Text 9"/>
          <p:cNvSpPr txBox="1"/>
          <p:nvPr/>
        </p:nvSpPr>
        <p:spPr>
          <a:xfrm>
            <a:off x="4846320" y="1847849"/>
            <a:ext cx="86868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H=720</a:t>
            </a:r>
          </a:p>
        </p:txBody>
      </p:sp>
      <p:sp>
        <p:nvSpPr>
          <p:cNvPr id="173" name="Shape 10"/>
          <p:cNvSpPr/>
          <p:nvPr/>
        </p:nvSpPr>
        <p:spPr>
          <a:xfrm>
            <a:off x="457199" y="2194560"/>
            <a:ext cx="5303522" cy="411481"/>
          </a:xfrm>
          <a:prstGeom prst="rect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174" name="Text 11"/>
          <p:cNvSpPr txBox="1"/>
          <p:nvPr/>
        </p:nvSpPr>
        <p:spPr>
          <a:xfrm>
            <a:off x="502919" y="2265680"/>
            <a:ext cx="1371602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Baseline</a:t>
            </a:r>
          </a:p>
        </p:txBody>
      </p:sp>
      <p:sp>
        <p:nvSpPr>
          <p:cNvPr id="175" name="Text 12"/>
          <p:cNvSpPr txBox="1"/>
          <p:nvPr/>
        </p:nvSpPr>
        <p:spPr>
          <a:xfrm>
            <a:off x="1965960" y="2265680"/>
            <a:ext cx="868681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0.419</a:t>
            </a:r>
          </a:p>
        </p:txBody>
      </p:sp>
      <p:sp>
        <p:nvSpPr>
          <p:cNvPr id="176" name="Text 13"/>
          <p:cNvSpPr txBox="1"/>
          <p:nvPr/>
        </p:nvSpPr>
        <p:spPr>
          <a:xfrm>
            <a:off x="2926080" y="2265680"/>
            <a:ext cx="868681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0.466</a:t>
            </a:r>
          </a:p>
        </p:txBody>
      </p:sp>
      <p:sp>
        <p:nvSpPr>
          <p:cNvPr id="177" name="Text 14"/>
          <p:cNvSpPr txBox="1"/>
          <p:nvPr/>
        </p:nvSpPr>
        <p:spPr>
          <a:xfrm>
            <a:off x="3886200" y="2265680"/>
            <a:ext cx="868681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0.521</a:t>
            </a:r>
          </a:p>
        </p:txBody>
      </p:sp>
      <p:sp>
        <p:nvSpPr>
          <p:cNvPr id="178" name="Text 15"/>
          <p:cNvSpPr txBox="1"/>
          <p:nvPr/>
        </p:nvSpPr>
        <p:spPr>
          <a:xfrm>
            <a:off x="4846320" y="2265680"/>
            <a:ext cx="868681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0.639</a:t>
            </a:r>
          </a:p>
        </p:txBody>
      </p:sp>
      <p:sp>
        <p:nvSpPr>
          <p:cNvPr id="179" name="Shape 16"/>
          <p:cNvSpPr/>
          <p:nvPr/>
        </p:nvSpPr>
        <p:spPr>
          <a:xfrm>
            <a:off x="457199" y="2606039"/>
            <a:ext cx="5303522" cy="411481"/>
          </a:xfrm>
          <a:prstGeom prst="rect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180" name="Text 17"/>
          <p:cNvSpPr txBox="1"/>
          <p:nvPr/>
        </p:nvSpPr>
        <p:spPr>
          <a:xfrm>
            <a:off x="502919" y="2677159"/>
            <a:ext cx="137160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RoPE</a:t>
            </a:r>
          </a:p>
        </p:txBody>
      </p:sp>
      <p:sp>
        <p:nvSpPr>
          <p:cNvPr id="181" name="Text 18"/>
          <p:cNvSpPr txBox="1"/>
          <p:nvPr/>
        </p:nvSpPr>
        <p:spPr>
          <a:xfrm>
            <a:off x="1965960" y="2677159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0.425</a:t>
            </a:r>
          </a:p>
        </p:txBody>
      </p:sp>
      <p:sp>
        <p:nvSpPr>
          <p:cNvPr id="182" name="Text 19"/>
          <p:cNvSpPr txBox="1"/>
          <p:nvPr/>
        </p:nvSpPr>
        <p:spPr>
          <a:xfrm>
            <a:off x="2926080" y="2677159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0.477</a:t>
            </a:r>
          </a:p>
        </p:txBody>
      </p:sp>
      <p:sp>
        <p:nvSpPr>
          <p:cNvPr id="183" name="Text 20"/>
          <p:cNvSpPr txBox="1"/>
          <p:nvPr/>
        </p:nvSpPr>
        <p:spPr>
          <a:xfrm>
            <a:off x="3886200" y="2677159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0.529</a:t>
            </a:r>
          </a:p>
        </p:txBody>
      </p:sp>
      <p:sp>
        <p:nvSpPr>
          <p:cNvPr id="184" name="Text 21"/>
          <p:cNvSpPr txBox="1"/>
          <p:nvPr/>
        </p:nvSpPr>
        <p:spPr>
          <a:xfrm>
            <a:off x="4846320" y="2677159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0.650</a:t>
            </a:r>
          </a:p>
        </p:txBody>
      </p:sp>
      <p:sp>
        <p:nvSpPr>
          <p:cNvPr id="185" name="Shape 22"/>
          <p:cNvSpPr/>
          <p:nvPr/>
        </p:nvSpPr>
        <p:spPr>
          <a:xfrm>
            <a:off x="457199" y="3017520"/>
            <a:ext cx="5303522" cy="411481"/>
          </a:xfrm>
          <a:prstGeom prst="rect">
            <a:avLst/>
          </a:prstGeom>
          <a:solidFill>
            <a:srgbClr val="D4AF37"/>
          </a:solidFill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186" name="Text 23"/>
          <p:cNvSpPr txBox="1"/>
          <p:nvPr/>
        </p:nvSpPr>
        <p:spPr>
          <a:xfrm>
            <a:off x="502919" y="3088640"/>
            <a:ext cx="137160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C1C1C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xCPE (All)</a:t>
            </a:r>
          </a:p>
        </p:txBody>
      </p:sp>
      <p:sp>
        <p:nvSpPr>
          <p:cNvPr id="187" name="Text 24"/>
          <p:cNvSpPr txBox="1"/>
          <p:nvPr/>
        </p:nvSpPr>
        <p:spPr>
          <a:xfrm>
            <a:off x="1965960" y="3088640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1C1C1C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0.422</a:t>
            </a:r>
          </a:p>
        </p:txBody>
      </p:sp>
      <p:sp>
        <p:nvSpPr>
          <p:cNvPr id="188" name="Text 25"/>
          <p:cNvSpPr txBox="1"/>
          <p:nvPr/>
        </p:nvSpPr>
        <p:spPr>
          <a:xfrm>
            <a:off x="2926080" y="3088640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1C1C1C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0.457</a:t>
            </a:r>
          </a:p>
        </p:txBody>
      </p:sp>
      <p:sp>
        <p:nvSpPr>
          <p:cNvPr id="189" name="Text 26"/>
          <p:cNvSpPr txBox="1"/>
          <p:nvPr/>
        </p:nvSpPr>
        <p:spPr>
          <a:xfrm>
            <a:off x="3886200" y="3088640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1C1C1C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0.508</a:t>
            </a:r>
          </a:p>
        </p:txBody>
      </p:sp>
      <p:sp>
        <p:nvSpPr>
          <p:cNvPr id="190" name="Text 27"/>
          <p:cNvSpPr txBox="1"/>
          <p:nvPr/>
        </p:nvSpPr>
        <p:spPr>
          <a:xfrm>
            <a:off x="4846320" y="3088640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1C1C1C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0.613</a:t>
            </a:r>
          </a:p>
        </p:txBody>
      </p:sp>
      <p:sp>
        <p:nvSpPr>
          <p:cNvPr id="191" name="Shape 28"/>
          <p:cNvSpPr/>
          <p:nvPr/>
        </p:nvSpPr>
        <p:spPr>
          <a:xfrm>
            <a:off x="457199" y="3429000"/>
            <a:ext cx="5303522" cy="411481"/>
          </a:xfrm>
          <a:prstGeom prst="rect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192" name="Text 29"/>
          <p:cNvSpPr txBox="1"/>
          <p:nvPr/>
        </p:nvSpPr>
        <p:spPr>
          <a:xfrm>
            <a:off x="502919" y="3500120"/>
            <a:ext cx="137160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xCPE (Early)</a:t>
            </a:r>
          </a:p>
        </p:txBody>
      </p:sp>
      <p:sp>
        <p:nvSpPr>
          <p:cNvPr id="193" name="Text 30"/>
          <p:cNvSpPr txBox="1"/>
          <p:nvPr/>
        </p:nvSpPr>
        <p:spPr>
          <a:xfrm>
            <a:off x="1965960" y="3500120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0.433</a:t>
            </a:r>
          </a:p>
        </p:txBody>
      </p:sp>
      <p:sp>
        <p:nvSpPr>
          <p:cNvPr id="194" name="Text 31"/>
          <p:cNvSpPr txBox="1"/>
          <p:nvPr/>
        </p:nvSpPr>
        <p:spPr>
          <a:xfrm>
            <a:off x="2926080" y="3500120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0.487</a:t>
            </a:r>
          </a:p>
        </p:txBody>
      </p:sp>
      <p:sp>
        <p:nvSpPr>
          <p:cNvPr id="195" name="Text 32"/>
          <p:cNvSpPr txBox="1"/>
          <p:nvPr/>
        </p:nvSpPr>
        <p:spPr>
          <a:xfrm>
            <a:off x="3886200" y="3500120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0.538</a:t>
            </a:r>
          </a:p>
        </p:txBody>
      </p:sp>
      <p:sp>
        <p:nvSpPr>
          <p:cNvPr id="196" name="Text 33"/>
          <p:cNvSpPr txBox="1"/>
          <p:nvPr/>
        </p:nvSpPr>
        <p:spPr>
          <a:xfrm>
            <a:off x="4846320" y="3500120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0.658</a:t>
            </a:r>
          </a:p>
        </p:txBody>
      </p:sp>
      <p:sp>
        <p:nvSpPr>
          <p:cNvPr id="197" name="Shape 34"/>
          <p:cNvSpPr/>
          <p:nvPr/>
        </p:nvSpPr>
        <p:spPr>
          <a:xfrm>
            <a:off x="457199" y="3840479"/>
            <a:ext cx="5303522" cy="411481"/>
          </a:xfrm>
          <a:prstGeom prst="rect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198" name="Text 35"/>
          <p:cNvSpPr txBox="1"/>
          <p:nvPr/>
        </p:nvSpPr>
        <p:spPr>
          <a:xfrm>
            <a:off x="502919" y="3911600"/>
            <a:ext cx="137160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xCPE (Late)</a:t>
            </a:r>
          </a:p>
        </p:txBody>
      </p:sp>
      <p:sp>
        <p:nvSpPr>
          <p:cNvPr id="199" name="Text 36"/>
          <p:cNvSpPr txBox="1"/>
          <p:nvPr/>
        </p:nvSpPr>
        <p:spPr>
          <a:xfrm>
            <a:off x="1965960" y="3911600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0.434</a:t>
            </a:r>
          </a:p>
        </p:txBody>
      </p:sp>
      <p:sp>
        <p:nvSpPr>
          <p:cNvPr id="200" name="Text 37"/>
          <p:cNvSpPr txBox="1"/>
          <p:nvPr/>
        </p:nvSpPr>
        <p:spPr>
          <a:xfrm>
            <a:off x="2926080" y="3911600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0.482</a:t>
            </a:r>
          </a:p>
        </p:txBody>
      </p:sp>
      <p:sp>
        <p:nvSpPr>
          <p:cNvPr id="201" name="Text 38"/>
          <p:cNvSpPr txBox="1"/>
          <p:nvPr/>
        </p:nvSpPr>
        <p:spPr>
          <a:xfrm>
            <a:off x="3886200" y="3911600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0.520</a:t>
            </a:r>
          </a:p>
        </p:txBody>
      </p:sp>
      <p:sp>
        <p:nvSpPr>
          <p:cNvPr id="202" name="Text 39"/>
          <p:cNvSpPr txBox="1"/>
          <p:nvPr/>
        </p:nvSpPr>
        <p:spPr>
          <a:xfrm>
            <a:off x="4846320" y="3911600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0.646</a:t>
            </a:r>
          </a:p>
        </p:txBody>
      </p:sp>
      <p:sp>
        <p:nvSpPr>
          <p:cNvPr id="203" name="Text 41"/>
          <p:cNvSpPr txBox="1"/>
          <p:nvPr/>
        </p:nvSpPr>
        <p:spPr>
          <a:xfrm>
            <a:off x="6172200" y="1805940"/>
            <a:ext cx="228600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Key Findings</a:t>
            </a:r>
          </a:p>
        </p:txBody>
      </p:sp>
      <p:sp>
        <p:nvSpPr>
          <p:cNvPr id="204" name="Shape 42"/>
          <p:cNvSpPr/>
          <p:nvPr/>
        </p:nvSpPr>
        <p:spPr>
          <a:xfrm>
            <a:off x="6161677" y="2363724"/>
            <a:ext cx="73153" cy="73153"/>
          </a:xfrm>
          <a:prstGeom prst="rect">
            <a:avLst/>
          </a:prstGeom>
          <a:solidFill>
            <a:srgbClr val="5CB85C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205" name="Text 43"/>
          <p:cNvSpPr txBox="1"/>
          <p:nvPr/>
        </p:nvSpPr>
        <p:spPr>
          <a:xfrm>
            <a:off x="6355079" y="2172589"/>
            <a:ext cx="2103121" cy="480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xCPE (All) achieves lowest MSE at H=192, 336, 720</a:t>
            </a:r>
          </a:p>
        </p:txBody>
      </p:sp>
      <p:sp>
        <p:nvSpPr>
          <p:cNvPr id="206" name="Shape 44"/>
          <p:cNvSpPr/>
          <p:nvPr/>
        </p:nvSpPr>
        <p:spPr>
          <a:xfrm>
            <a:off x="6161677" y="2775204"/>
            <a:ext cx="73153" cy="73153"/>
          </a:xfrm>
          <a:prstGeom prst="rect">
            <a:avLst/>
          </a:prstGeom>
          <a:solidFill>
            <a:srgbClr val="5CB85C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207" name="Text 45"/>
          <p:cNvSpPr txBox="1"/>
          <p:nvPr/>
        </p:nvSpPr>
        <p:spPr>
          <a:xfrm>
            <a:off x="6355079" y="2584069"/>
            <a:ext cx="2103121" cy="480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Improvement grows with horizon length</a:t>
            </a:r>
          </a:p>
        </p:txBody>
      </p:sp>
      <p:sp>
        <p:nvSpPr>
          <p:cNvPr id="208" name="Shape 46"/>
          <p:cNvSpPr/>
          <p:nvPr/>
        </p:nvSpPr>
        <p:spPr>
          <a:xfrm>
            <a:off x="6161677" y="3186683"/>
            <a:ext cx="73153" cy="73153"/>
          </a:xfrm>
          <a:prstGeom prst="rect">
            <a:avLst/>
          </a:prstGeom>
          <a:solidFill>
            <a:srgbClr val="5CB85C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209" name="Text 47"/>
          <p:cNvSpPr txBox="1"/>
          <p:nvPr/>
        </p:nvSpPr>
        <p:spPr>
          <a:xfrm>
            <a:off x="6355079" y="2995549"/>
            <a:ext cx="2103121" cy="480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4.0% MSE reduction at H=720 vs baseline</a:t>
            </a:r>
          </a:p>
        </p:txBody>
      </p:sp>
      <p:sp>
        <p:nvSpPr>
          <p:cNvPr id="210" name="Shape 48"/>
          <p:cNvSpPr/>
          <p:nvPr/>
        </p:nvSpPr>
        <p:spPr>
          <a:xfrm>
            <a:off x="6161677" y="3598163"/>
            <a:ext cx="73153" cy="73153"/>
          </a:xfrm>
          <a:prstGeom prst="rect">
            <a:avLst/>
          </a:prstGeom>
          <a:solidFill>
            <a:srgbClr val="5CB85C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211" name="Text 49"/>
          <p:cNvSpPr txBox="1"/>
          <p:nvPr/>
        </p:nvSpPr>
        <p:spPr>
          <a:xfrm>
            <a:off x="6355079" y="3407029"/>
            <a:ext cx="2103121" cy="480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RoPE underperforms - content-conditioning is key</a:t>
            </a:r>
          </a:p>
        </p:txBody>
      </p:sp>
      <p:sp>
        <p:nvSpPr>
          <p:cNvPr id="212" name="Shape 50"/>
          <p:cNvSpPr/>
          <p:nvPr/>
        </p:nvSpPr>
        <p:spPr>
          <a:xfrm>
            <a:off x="6161677" y="4009644"/>
            <a:ext cx="73153" cy="73153"/>
          </a:xfrm>
          <a:prstGeom prst="rect">
            <a:avLst/>
          </a:prstGeom>
          <a:solidFill>
            <a:srgbClr val="5CB85C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213" name="Text 51"/>
          <p:cNvSpPr txBox="1"/>
          <p:nvPr/>
        </p:nvSpPr>
        <p:spPr>
          <a:xfrm>
            <a:off x="6355079" y="3818509"/>
            <a:ext cx="2103121" cy="480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Early layers benefit more from xCPE than late layers</a:t>
            </a:r>
          </a:p>
        </p:txBody>
      </p:sp>
      <p:sp>
        <p:nvSpPr>
          <p:cNvPr id="214" name="Text 53"/>
          <p:cNvSpPr txBox="1"/>
          <p:nvPr/>
        </p:nvSpPr>
        <p:spPr>
          <a:xfrm>
            <a:off x="685799" y="4584700"/>
            <a:ext cx="777240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Best Performance at H=720:  </a:t>
            </a:r>
            <a:r>
              <a:rPr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rPr>
              <a:t>xCPE (All) = 0.613</a:t>
            </a:r>
            <a:r>
              <a:t>           Baseline = 0.639            </a:t>
            </a:r>
            <a:r>
              <a:rPr>
                <a:solidFill>
                  <a:srgbClr val="5CB85C"/>
                </a:solidFill>
                <a:latin typeface="Avenir Heavy"/>
                <a:ea typeface="Avenir Heavy"/>
                <a:cs typeface="Avenir Heavy"/>
                <a:sym typeface="Avenir Heavy"/>
              </a:rPr>
              <a:t>Improvement: 4.0%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2"/>
          <p:cNvSpPr txBox="1"/>
          <p:nvPr/>
        </p:nvSpPr>
        <p:spPr>
          <a:xfrm>
            <a:off x="502919" y="810260"/>
            <a:ext cx="8138161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Weather Dataset - Performance Results</a:t>
            </a:r>
          </a:p>
        </p:txBody>
      </p:sp>
      <p:sp>
        <p:nvSpPr>
          <p:cNvPr id="217" name="Text 3"/>
          <p:cNvSpPr txBox="1"/>
          <p:nvPr/>
        </p:nvSpPr>
        <p:spPr>
          <a:xfrm>
            <a:off x="502919" y="1430019"/>
            <a:ext cx="52120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MSE (Mean Squared Error) - Lower is Better</a:t>
            </a:r>
          </a:p>
        </p:txBody>
      </p:sp>
      <p:sp>
        <p:nvSpPr>
          <p:cNvPr id="218" name="Shape 4"/>
          <p:cNvSpPr/>
          <p:nvPr/>
        </p:nvSpPr>
        <p:spPr>
          <a:xfrm>
            <a:off x="457199" y="1783079"/>
            <a:ext cx="5303522" cy="411481"/>
          </a:xfrm>
          <a:prstGeom prst="rect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219" name="Text 5"/>
          <p:cNvSpPr txBox="1"/>
          <p:nvPr/>
        </p:nvSpPr>
        <p:spPr>
          <a:xfrm>
            <a:off x="502919" y="1847849"/>
            <a:ext cx="1371602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Variant</a:t>
            </a:r>
          </a:p>
        </p:txBody>
      </p:sp>
      <p:sp>
        <p:nvSpPr>
          <p:cNvPr id="220" name="Text 6"/>
          <p:cNvSpPr txBox="1"/>
          <p:nvPr/>
        </p:nvSpPr>
        <p:spPr>
          <a:xfrm>
            <a:off x="1965960" y="1847849"/>
            <a:ext cx="86868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H=96</a:t>
            </a:r>
          </a:p>
        </p:txBody>
      </p:sp>
      <p:sp>
        <p:nvSpPr>
          <p:cNvPr id="221" name="Text 7"/>
          <p:cNvSpPr txBox="1"/>
          <p:nvPr/>
        </p:nvSpPr>
        <p:spPr>
          <a:xfrm>
            <a:off x="2926080" y="1847849"/>
            <a:ext cx="86868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H=192</a:t>
            </a:r>
          </a:p>
        </p:txBody>
      </p:sp>
      <p:sp>
        <p:nvSpPr>
          <p:cNvPr id="222" name="Text 8"/>
          <p:cNvSpPr txBox="1"/>
          <p:nvPr/>
        </p:nvSpPr>
        <p:spPr>
          <a:xfrm>
            <a:off x="3886200" y="1847849"/>
            <a:ext cx="86868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H=336</a:t>
            </a:r>
          </a:p>
        </p:txBody>
      </p:sp>
      <p:sp>
        <p:nvSpPr>
          <p:cNvPr id="223" name="Text 9"/>
          <p:cNvSpPr txBox="1"/>
          <p:nvPr/>
        </p:nvSpPr>
        <p:spPr>
          <a:xfrm>
            <a:off x="4846320" y="1847849"/>
            <a:ext cx="86868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H=720</a:t>
            </a:r>
          </a:p>
        </p:txBody>
      </p:sp>
      <p:sp>
        <p:nvSpPr>
          <p:cNvPr id="224" name="Shape 10"/>
          <p:cNvSpPr/>
          <p:nvPr/>
        </p:nvSpPr>
        <p:spPr>
          <a:xfrm>
            <a:off x="457199" y="2194560"/>
            <a:ext cx="5303522" cy="411481"/>
          </a:xfrm>
          <a:prstGeom prst="rect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225" name="Text 11"/>
          <p:cNvSpPr txBox="1"/>
          <p:nvPr/>
        </p:nvSpPr>
        <p:spPr>
          <a:xfrm>
            <a:off x="502919" y="2265680"/>
            <a:ext cx="1371602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Baseline</a:t>
            </a:r>
          </a:p>
        </p:txBody>
      </p:sp>
      <p:sp>
        <p:nvSpPr>
          <p:cNvPr id="226" name="Text 12"/>
          <p:cNvSpPr txBox="1"/>
          <p:nvPr/>
        </p:nvSpPr>
        <p:spPr>
          <a:xfrm>
            <a:off x="1965960" y="2265680"/>
            <a:ext cx="868681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0.158</a:t>
            </a:r>
          </a:p>
        </p:txBody>
      </p:sp>
      <p:sp>
        <p:nvSpPr>
          <p:cNvPr id="227" name="Text 13"/>
          <p:cNvSpPr txBox="1"/>
          <p:nvPr/>
        </p:nvSpPr>
        <p:spPr>
          <a:xfrm>
            <a:off x="2926080" y="2265680"/>
            <a:ext cx="868681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0.204</a:t>
            </a:r>
          </a:p>
        </p:txBody>
      </p:sp>
      <p:sp>
        <p:nvSpPr>
          <p:cNvPr id="228" name="Text 14"/>
          <p:cNvSpPr txBox="1"/>
          <p:nvPr/>
        </p:nvSpPr>
        <p:spPr>
          <a:xfrm>
            <a:off x="3886200" y="2265680"/>
            <a:ext cx="868681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0.256</a:t>
            </a:r>
          </a:p>
        </p:txBody>
      </p:sp>
      <p:sp>
        <p:nvSpPr>
          <p:cNvPr id="229" name="Text 15"/>
          <p:cNvSpPr txBox="1"/>
          <p:nvPr/>
        </p:nvSpPr>
        <p:spPr>
          <a:xfrm>
            <a:off x="4846320" y="2265680"/>
            <a:ext cx="868681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0.331</a:t>
            </a:r>
          </a:p>
        </p:txBody>
      </p:sp>
      <p:sp>
        <p:nvSpPr>
          <p:cNvPr id="230" name="Shape 16"/>
          <p:cNvSpPr/>
          <p:nvPr/>
        </p:nvSpPr>
        <p:spPr>
          <a:xfrm>
            <a:off x="457199" y="2606039"/>
            <a:ext cx="5303522" cy="411481"/>
          </a:xfrm>
          <a:prstGeom prst="rect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231" name="Text 17"/>
          <p:cNvSpPr txBox="1"/>
          <p:nvPr/>
        </p:nvSpPr>
        <p:spPr>
          <a:xfrm>
            <a:off x="502919" y="2677159"/>
            <a:ext cx="137160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RoPE</a:t>
            </a:r>
          </a:p>
        </p:txBody>
      </p:sp>
      <p:sp>
        <p:nvSpPr>
          <p:cNvPr id="232" name="Text 18"/>
          <p:cNvSpPr txBox="1"/>
          <p:nvPr/>
        </p:nvSpPr>
        <p:spPr>
          <a:xfrm>
            <a:off x="1965960" y="2677159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0.161</a:t>
            </a:r>
          </a:p>
        </p:txBody>
      </p:sp>
      <p:sp>
        <p:nvSpPr>
          <p:cNvPr id="233" name="Text 19"/>
          <p:cNvSpPr txBox="1"/>
          <p:nvPr/>
        </p:nvSpPr>
        <p:spPr>
          <a:xfrm>
            <a:off x="2926080" y="2677159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0.209</a:t>
            </a:r>
          </a:p>
        </p:txBody>
      </p:sp>
      <p:sp>
        <p:nvSpPr>
          <p:cNvPr id="234" name="Text 20"/>
          <p:cNvSpPr txBox="1"/>
          <p:nvPr/>
        </p:nvSpPr>
        <p:spPr>
          <a:xfrm>
            <a:off x="3886200" y="2677159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0.262</a:t>
            </a:r>
          </a:p>
        </p:txBody>
      </p:sp>
      <p:sp>
        <p:nvSpPr>
          <p:cNvPr id="235" name="Text 21"/>
          <p:cNvSpPr txBox="1"/>
          <p:nvPr/>
        </p:nvSpPr>
        <p:spPr>
          <a:xfrm>
            <a:off x="4846320" y="2677159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0.338</a:t>
            </a:r>
          </a:p>
        </p:txBody>
      </p:sp>
      <p:sp>
        <p:nvSpPr>
          <p:cNvPr id="236" name="Shape 22"/>
          <p:cNvSpPr/>
          <p:nvPr/>
        </p:nvSpPr>
        <p:spPr>
          <a:xfrm>
            <a:off x="457199" y="3017520"/>
            <a:ext cx="5303522" cy="411481"/>
          </a:xfrm>
          <a:prstGeom prst="rect">
            <a:avLst/>
          </a:prstGeom>
          <a:solidFill>
            <a:srgbClr val="D4AF37"/>
          </a:solidFill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237" name="Text 23"/>
          <p:cNvSpPr txBox="1"/>
          <p:nvPr/>
        </p:nvSpPr>
        <p:spPr>
          <a:xfrm>
            <a:off x="502919" y="3088640"/>
            <a:ext cx="137160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C1C1C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xCPE (All)</a:t>
            </a:r>
          </a:p>
        </p:txBody>
      </p:sp>
      <p:sp>
        <p:nvSpPr>
          <p:cNvPr id="238" name="Text 24"/>
          <p:cNvSpPr txBox="1"/>
          <p:nvPr/>
        </p:nvSpPr>
        <p:spPr>
          <a:xfrm>
            <a:off x="1965960" y="3088640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1C1C1C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0.155</a:t>
            </a:r>
          </a:p>
        </p:txBody>
      </p:sp>
      <p:sp>
        <p:nvSpPr>
          <p:cNvPr id="239" name="Text 25"/>
          <p:cNvSpPr txBox="1"/>
          <p:nvPr/>
        </p:nvSpPr>
        <p:spPr>
          <a:xfrm>
            <a:off x="2926080" y="3088640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1C1C1C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0.196</a:t>
            </a:r>
          </a:p>
        </p:txBody>
      </p:sp>
      <p:sp>
        <p:nvSpPr>
          <p:cNvPr id="240" name="Text 26"/>
          <p:cNvSpPr txBox="1"/>
          <p:nvPr/>
        </p:nvSpPr>
        <p:spPr>
          <a:xfrm>
            <a:off x="3886200" y="3088640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1C1C1C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0.244</a:t>
            </a:r>
          </a:p>
        </p:txBody>
      </p:sp>
      <p:sp>
        <p:nvSpPr>
          <p:cNvPr id="241" name="Text 27"/>
          <p:cNvSpPr txBox="1"/>
          <p:nvPr/>
        </p:nvSpPr>
        <p:spPr>
          <a:xfrm>
            <a:off x="4846320" y="3088640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1C1C1C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0.313</a:t>
            </a:r>
          </a:p>
        </p:txBody>
      </p:sp>
      <p:sp>
        <p:nvSpPr>
          <p:cNvPr id="242" name="Shape 28"/>
          <p:cNvSpPr/>
          <p:nvPr/>
        </p:nvSpPr>
        <p:spPr>
          <a:xfrm>
            <a:off x="457199" y="3429000"/>
            <a:ext cx="5303522" cy="411481"/>
          </a:xfrm>
          <a:prstGeom prst="rect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243" name="Text 29"/>
          <p:cNvSpPr txBox="1"/>
          <p:nvPr/>
        </p:nvSpPr>
        <p:spPr>
          <a:xfrm>
            <a:off x="502919" y="3500120"/>
            <a:ext cx="137160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xCPE (Early)</a:t>
            </a:r>
          </a:p>
        </p:txBody>
      </p:sp>
      <p:sp>
        <p:nvSpPr>
          <p:cNvPr id="244" name="Text 30"/>
          <p:cNvSpPr txBox="1"/>
          <p:nvPr/>
        </p:nvSpPr>
        <p:spPr>
          <a:xfrm>
            <a:off x="1965960" y="3500120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0.160</a:t>
            </a:r>
          </a:p>
        </p:txBody>
      </p:sp>
      <p:sp>
        <p:nvSpPr>
          <p:cNvPr id="245" name="Text 31"/>
          <p:cNvSpPr txBox="1"/>
          <p:nvPr/>
        </p:nvSpPr>
        <p:spPr>
          <a:xfrm>
            <a:off x="2926080" y="3500120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0.207</a:t>
            </a:r>
          </a:p>
        </p:txBody>
      </p:sp>
      <p:sp>
        <p:nvSpPr>
          <p:cNvPr id="246" name="Text 32"/>
          <p:cNvSpPr txBox="1"/>
          <p:nvPr/>
        </p:nvSpPr>
        <p:spPr>
          <a:xfrm>
            <a:off x="3886200" y="3500120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0.252</a:t>
            </a:r>
          </a:p>
        </p:txBody>
      </p:sp>
      <p:sp>
        <p:nvSpPr>
          <p:cNvPr id="247" name="Text 33"/>
          <p:cNvSpPr txBox="1"/>
          <p:nvPr/>
        </p:nvSpPr>
        <p:spPr>
          <a:xfrm>
            <a:off x="4846320" y="3500120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0.327</a:t>
            </a:r>
          </a:p>
        </p:txBody>
      </p:sp>
      <p:sp>
        <p:nvSpPr>
          <p:cNvPr id="248" name="Shape 34"/>
          <p:cNvSpPr/>
          <p:nvPr/>
        </p:nvSpPr>
        <p:spPr>
          <a:xfrm>
            <a:off x="457199" y="3840479"/>
            <a:ext cx="5303522" cy="411481"/>
          </a:xfrm>
          <a:prstGeom prst="rect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249" name="Text 35"/>
          <p:cNvSpPr txBox="1"/>
          <p:nvPr/>
        </p:nvSpPr>
        <p:spPr>
          <a:xfrm>
            <a:off x="502919" y="3911600"/>
            <a:ext cx="137160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xCPE (Late)</a:t>
            </a:r>
          </a:p>
        </p:txBody>
      </p:sp>
      <p:sp>
        <p:nvSpPr>
          <p:cNvPr id="250" name="Text 36"/>
          <p:cNvSpPr txBox="1"/>
          <p:nvPr/>
        </p:nvSpPr>
        <p:spPr>
          <a:xfrm>
            <a:off x="1965960" y="3911600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0.156</a:t>
            </a:r>
          </a:p>
        </p:txBody>
      </p:sp>
      <p:sp>
        <p:nvSpPr>
          <p:cNvPr id="251" name="Text 37"/>
          <p:cNvSpPr txBox="1"/>
          <p:nvPr/>
        </p:nvSpPr>
        <p:spPr>
          <a:xfrm>
            <a:off x="2926080" y="3911600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0.201</a:t>
            </a:r>
          </a:p>
        </p:txBody>
      </p:sp>
      <p:sp>
        <p:nvSpPr>
          <p:cNvPr id="252" name="Text 38"/>
          <p:cNvSpPr txBox="1"/>
          <p:nvPr/>
        </p:nvSpPr>
        <p:spPr>
          <a:xfrm>
            <a:off x="3886200" y="3911600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0.251</a:t>
            </a:r>
          </a:p>
        </p:txBody>
      </p:sp>
      <p:sp>
        <p:nvSpPr>
          <p:cNvPr id="253" name="Text 39"/>
          <p:cNvSpPr txBox="1"/>
          <p:nvPr/>
        </p:nvSpPr>
        <p:spPr>
          <a:xfrm>
            <a:off x="4846320" y="3911600"/>
            <a:ext cx="868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0.329</a:t>
            </a:r>
          </a:p>
        </p:txBody>
      </p:sp>
      <p:sp>
        <p:nvSpPr>
          <p:cNvPr id="254" name="Text 41"/>
          <p:cNvSpPr txBox="1"/>
          <p:nvPr/>
        </p:nvSpPr>
        <p:spPr>
          <a:xfrm>
            <a:off x="6172200" y="1805940"/>
            <a:ext cx="228600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Key Findings</a:t>
            </a:r>
          </a:p>
        </p:txBody>
      </p:sp>
      <p:sp>
        <p:nvSpPr>
          <p:cNvPr id="255" name="Shape 42"/>
          <p:cNvSpPr/>
          <p:nvPr/>
        </p:nvSpPr>
        <p:spPr>
          <a:xfrm>
            <a:off x="6172200" y="2363724"/>
            <a:ext cx="73153" cy="73153"/>
          </a:xfrm>
          <a:prstGeom prst="rect">
            <a:avLst/>
          </a:prstGeom>
          <a:solidFill>
            <a:srgbClr val="5CB85C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256" name="Text 43"/>
          <p:cNvSpPr txBox="1"/>
          <p:nvPr/>
        </p:nvSpPr>
        <p:spPr>
          <a:xfrm>
            <a:off x="6355079" y="2172589"/>
            <a:ext cx="2103121" cy="480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xCPE (All) outperforms all variants across all horizons</a:t>
            </a:r>
          </a:p>
        </p:txBody>
      </p:sp>
      <p:sp>
        <p:nvSpPr>
          <p:cNvPr id="257" name="Shape 44"/>
          <p:cNvSpPr/>
          <p:nvPr/>
        </p:nvSpPr>
        <p:spPr>
          <a:xfrm>
            <a:off x="6172200" y="2775204"/>
            <a:ext cx="73153" cy="73153"/>
          </a:xfrm>
          <a:prstGeom prst="rect">
            <a:avLst/>
          </a:prstGeom>
          <a:solidFill>
            <a:srgbClr val="5CB85C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258" name="Text 45"/>
          <p:cNvSpPr txBox="1"/>
          <p:nvPr/>
        </p:nvSpPr>
        <p:spPr>
          <a:xfrm>
            <a:off x="6355079" y="2584069"/>
            <a:ext cx="2103121" cy="480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Consistent improvements demonstrate robustness</a:t>
            </a:r>
          </a:p>
        </p:txBody>
      </p:sp>
      <p:sp>
        <p:nvSpPr>
          <p:cNvPr id="259" name="Shape 46"/>
          <p:cNvSpPr/>
          <p:nvPr/>
        </p:nvSpPr>
        <p:spPr>
          <a:xfrm>
            <a:off x="6172200" y="3186683"/>
            <a:ext cx="73153" cy="73153"/>
          </a:xfrm>
          <a:prstGeom prst="rect">
            <a:avLst/>
          </a:prstGeom>
          <a:solidFill>
            <a:srgbClr val="5CB85C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260" name="Text 47"/>
          <p:cNvSpPr txBox="1"/>
          <p:nvPr/>
        </p:nvSpPr>
        <p:spPr>
          <a:xfrm>
            <a:off x="6355079" y="2995549"/>
            <a:ext cx="2103121" cy="480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5.5% MSE reduction at H=720 vs baseline</a:t>
            </a:r>
          </a:p>
        </p:txBody>
      </p:sp>
      <p:sp>
        <p:nvSpPr>
          <p:cNvPr id="261" name="Shape 48"/>
          <p:cNvSpPr/>
          <p:nvPr/>
        </p:nvSpPr>
        <p:spPr>
          <a:xfrm>
            <a:off x="6172200" y="3598163"/>
            <a:ext cx="73153" cy="73153"/>
          </a:xfrm>
          <a:prstGeom prst="rect">
            <a:avLst/>
          </a:prstGeom>
          <a:solidFill>
            <a:srgbClr val="5CB85C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262" name="Text 49"/>
          <p:cNvSpPr txBox="1"/>
          <p:nvPr/>
        </p:nvSpPr>
        <p:spPr>
          <a:xfrm>
            <a:off x="6355079" y="3407029"/>
            <a:ext cx="2103121" cy="480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Stronger gains on Weather than ETTh1</a:t>
            </a:r>
          </a:p>
        </p:txBody>
      </p:sp>
      <p:sp>
        <p:nvSpPr>
          <p:cNvPr id="263" name="Shape 50"/>
          <p:cNvSpPr/>
          <p:nvPr/>
        </p:nvSpPr>
        <p:spPr>
          <a:xfrm>
            <a:off x="6172200" y="4009644"/>
            <a:ext cx="73153" cy="73153"/>
          </a:xfrm>
          <a:prstGeom prst="rect">
            <a:avLst/>
          </a:prstGeom>
          <a:solidFill>
            <a:srgbClr val="5CB85C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264" name="Text 51"/>
          <p:cNvSpPr txBox="1"/>
          <p:nvPr/>
        </p:nvSpPr>
        <p:spPr>
          <a:xfrm>
            <a:off x="6355079" y="3818509"/>
            <a:ext cx="2103121" cy="480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xCPE excels on highly non-stationary data (21 variates)</a:t>
            </a:r>
          </a:p>
        </p:txBody>
      </p:sp>
      <p:sp>
        <p:nvSpPr>
          <p:cNvPr id="265" name="Text 53"/>
          <p:cNvSpPr txBox="1"/>
          <p:nvPr/>
        </p:nvSpPr>
        <p:spPr>
          <a:xfrm>
            <a:off x="685799" y="4584700"/>
            <a:ext cx="777240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Best Performance at H=720:  </a:t>
            </a:r>
            <a:r>
              <a:rPr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rPr>
              <a:t>xCPE (All) = 0.313</a:t>
            </a:r>
            <a:r>
              <a:t>            Baseline = 0.331            </a:t>
            </a:r>
            <a:r>
              <a:rPr>
                <a:solidFill>
                  <a:srgbClr val="5CB85C"/>
                </a:solidFill>
                <a:latin typeface="Avenir Heavy"/>
                <a:ea typeface="Avenir Heavy"/>
                <a:cs typeface="Avenir Heavy"/>
                <a:sym typeface="Avenir Heavy"/>
              </a:rPr>
              <a:t>Improvement: 5.5%</a:t>
            </a:r>
          </a:p>
        </p:txBody>
      </p:sp>
      <p:sp>
        <p:nvSpPr>
          <p:cNvPr id="266" name="Text 1"/>
          <p:cNvSpPr txBox="1"/>
          <p:nvPr/>
        </p:nvSpPr>
        <p:spPr>
          <a:xfrm>
            <a:off x="313516" y="314324"/>
            <a:ext cx="1917677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7. RESULTS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 1"/>
          <p:cNvSpPr txBox="1"/>
          <p:nvPr/>
        </p:nvSpPr>
        <p:spPr>
          <a:xfrm>
            <a:off x="502919" y="308609"/>
            <a:ext cx="1639593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7. RESULTS</a:t>
            </a:r>
          </a:p>
        </p:txBody>
      </p:sp>
      <p:pic>
        <p:nvPicPr>
          <p:cNvPr id="269" name="figP8_tsne_embeddings.png" descr="figP8_tsne_embed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27" y="917557"/>
            <a:ext cx="8282946" cy="3626365"/>
          </a:xfrm>
          <a:prstGeom prst="rect">
            <a:avLst/>
          </a:prstGeom>
          <a:ln w="12700">
            <a:miter lim="400000"/>
          </a:ln>
        </p:spPr>
      </p:pic>
      <p:sp>
        <p:nvSpPr>
          <p:cNvPr id="270" name="Text 3"/>
          <p:cNvSpPr txBox="1"/>
          <p:nvPr/>
        </p:nvSpPr>
        <p:spPr>
          <a:xfrm>
            <a:off x="1188396" y="4718529"/>
            <a:ext cx="2429798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Fixed Position Embedding - PCA</a:t>
            </a:r>
          </a:p>
        </p:txBody>
      </p:sp>
      <p:sp>
        <p:nvSpPr>
          <p:cNvPr id="271" name="Text 3"/>
          <p:cNvSpPr txBox="1"/>
          <p:nvPr/>
        </p:nvSpPr>
        <p:spPr>
          <a:xfrm>
            <a:off x="5751594" y="4718529"/>
            <a:ext cx="2429797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xCPE Embedding- t-SNE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 1"/>
          <p:cNvSpPr txBox="1"/>
          <p:nvPr/>
        </p:nvSpPr>
        <p:spPr>
          <a:xfrm>
            <a:off x="502919" y="308609"/>
            <a:ext cx="1639593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7. RESULTS</a:t>
            </a:r>
          </a:p>
        </p:txBody>
      </p:sp>
      <p:pic>
        <p:nvPicPr>
          <p:cNvPr id="274" name="figP13_line_mse_horizons.png" descr="figP13_line_mse_horiz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4" y="1178262"/>
            <a:ext cx="8416132" cy="3019779"/>
          </a:xfrm>
          <a:prstGeom prst="rect">
            <a:avLst/>
          </a:prstGeom>
          <a:ln w="12700">
            <a:miter lim="400000"/>
          </a:ln>
        </p:spPr>
      </p:pic>
      <p:sp>
        <p:nvSpPr>
          <p:cNvPr id="275" name="Text 3"/>
          <p:cNvSpPr txBox="1"/>
          <p:nvPr/>
        </p:nvSpPr>
        <p:spPr>
          <a:xfrm>
            <a:off x="3568164" y="4400550"/>
            <a:ext cx="2237005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Test MSE vs Forecast Horizon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 1"/>
          <p:cNvSpPr txBox="1"/>
          <p:nvPr/>
        </p:nvSpPr>
        <p:spPr>
          <a:xfrm>
            <a:off x="418740" y="307720"/>
            <a:ext cx="2220513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8. LIMITATIONS</a:t>
            </a:r>
          </a:p>
        </p:txBody>
      </p:sp>
      <p:sp>
        <p:nvSpPr>
          <p:cNvPr id="278" name="Text 2"/>
          <p:cNvSpPr txBox="1"/>
          <p:nvPr/>
        </p:nvSpPr>
        <p:spPr>
          <a:xfrm>
            <a:off x="502919" y="772160"/>
            <a:ext cx="8138161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2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Limitations &amp; Constraints</a:t>
            </a:r>
          </a:p>
        </p:txBody>
      </p:sp>
      <p:sp>
        <p:nvSpPr>
          <p:cNvPr id="279" name="Text 4"/>
          <p:cNvSpPr txBox="1"/>
          <p:nvPr/>
        </p:nvSpPr>
        <p:spPr>
          <a:xfrm>
            <a:off x="685799" y="1612900"/>
            <a:ext cx="365760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rPr dirty="0"/>
              <a:t>Model Scale</a:t>
            </a:r>
          </a:p>
        </p:txBody>
      </p:sp>
      <p:sp>
        <p:nvSpPr>
          <p:cNvPr id="280" name="Text 5"/>
          <p:cNvSpPr txBox="1"/>
          <p:nvPr/>
        </p:nvSpPr>
        <p:spPr>
          <a:xfrm>
            <a:off x="685799" y="1846631"/>
            <a:ext cx="3657601" cy="4672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rPr dirty="0"/>
              <a:t>Small Transformer architecture (</a:t>
            </a:r>
            <a:r>
              <a:rPr dirty="0" err="1"/>
              <a:t>d</a:t>
            </a:r>
            <a:r>
              <a:rPr lang="en-US" baseline="-25000" dirty="0" err="1"/>
              <a:t>model</a:t>
            </a:r>
            <a:r>
              <a:rPr dirty="0"/>
              <a:t>=64, 3 layers) constrained by 8GB VRAM</a:t>
            </a:r>
          </a:p>
        </p:txBody>
      </p:sp>
      <p:sp>
        <p:nvSpPr>
          <p:cNvPr id="281" name="Text 6"/>
          <p:cNvSpPr txBox="1"/>
          <p:nvPr/>
        </p:nvSpPr>
        <p:spPr>
          <a:xfrm>
            <a:off x="685799" y="2312042"/>
            <a:ext cx="365760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Impact: May underestimate xCPE's potential on larger models</a:t>
            </a:r>
          </a:p>
        </p:txBody>
      </p:sp>
      <p:sp>
        <p:nvSpPr>
          <p:cNvPr id="282" name="Text 8"/>
          <p:cNvSpPr txBox="1"/>
          <p:nvPr/>
        </p:nvSpPr>
        <p:spPr>
          <a:xfrm>
            <a:off x="5029200" y="1612900"/>
            <a:ext cx="365760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rPr dirty="0"/>
              <a:t>Dataset Coverage</a:t>
            </a:r>
          </a:p>
        </p:txBody>
      </p:sp>
      <p:sp>
        <p:nvSpPr>
          <p:cNvPr id="283" name="Text 9"/>
          <p:cNvSpPr txBox="1"/>
          <p:nvPr/>
        </p:nvSpPr>
        <p:spPr>
          <a:xfrm>
            <a:off x="5029200" y="1846631"/>
            <a:ext cx="3657600" cy="4672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Primary evaluation on 2 datasets (ETTh1, Weather) from similar domain</a:t>
            </a:r>
          </a:p>
        </p:txBody>
      </p:sp>
      <p:sp>
        <p:nvSpPr>
          <p:cNvPr id="284" name="Text 10"/>
          <p:cNvSpPr txBox="1"/>
          <p:nvPr/>
        </p:nvSpPr>
        <p:spPr>
          <a:xfrm>
            <a:off x="5029200" y="2312042"/>
            <a:ext cx="412750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Impact: Additional benchmarks needed to confirm cross-domain robustness</a:t>
            </a:r>
          </a:p>
        </p:txBody>
      </p:sp>
      <p:sp>
        <p:nvSpPr>
          <p:cNvPr id="285" name="Text 12"/>
          <p:cNvSpPr txBox="1"/>
          <p:nvPr/>
        </p:nvSpPr>
        <p:spPr>
          <a:xfrm>
            <a:off x="685799" y="3208527"/>
            <a:ext cx="365760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rPr dirty="0"/>
              <a:t>Fixed Statistics</a:t>
            </a:r>
          </a:p>
        </p:txBody>
      </p:sp>
      <p:sp>
        <p:nvSpPr>
          <p:cNvPr id="286" name="Text 13"/>
          <p:cNvSpPr txBox="1"/>
          <p:nvPr/>
        </p:nvSpPr>
        <p:spPr>
          <a:xfrm>
            <a:off x="685799" y="3442258"/>
            <a:ext cx="3657601" cy="4672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3-neighborhood window with predetermined statistics (μ, σ², slope)</a:t>
            </a:r>
          </a:p>
        </p:txBody>
      </p:sp>
      <p:sp>
        <p:nvSpPr>
          <p:cNvPr id="287" name="Text 14"/>
          <p:cNvSpPr txBox="1"/>
          <p:nvPr/>
        </p:nvSpPr>
        <p:spPr>
          <a:xfrm>
            <a:off x="706844" y="3902671"/>
            <a:ext cx="365760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Impact: Learnable aggregation functions or adaptive windows unexplored</a:t>
            </a:r>
          </a:p>
        </p:txBody>
      </p:sp>
      <p:sp>
        <p:nvSpPr>
          <p:cNvPr id="297" name="Shape 5"/>
          <p:cNvSpPr/>
          <p:nvPr/>
        </p:nvSpPr>
        <p:spPr>
          <a:xfrm>
            <a:off x="509593" y="1732788"/>
            <a:ext cx="54865" cy="54865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298" name="Shape 5"/>
          <p:cNvSpPr/>
          <p:nvPr/>
        </p:nvSpPr>
        <p:spPr>
          <a:xfrm>
            <a:off x="509593" y="3328415"/>
            <a:ext cx="54865" cy="54865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300" name="Shape 5"/>
          <p:cNvSpPr/>
          <p:nvPr/>
        </p:nvSpPr>
        <p:spPr>
          <a:xfrm>
            <a:off x="4788203" y="1732788"/>
            <a:ext cx="54865" cy="54865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1"/>
          <p:cNvSpPr txBox="1"/>
          <p:nvPr/>
        </p:nvSpPr>
        <p:spPr>
          <a:xfrm>
            <a:off x="324038" y="322579"/>
            <a:ext cx="238705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8. FUTURE SCOPE</a:t>
            </a:r>
          </a:p>
        </p:txBody>
      </p:sp>
      <p:sp>
        <p:nvSpPr>
          <p:cNvPr id="305" name="Text 2"/>
          <p:cNvSpPr txBox="1"/>
          <p:nvPr/>
        </p:nvSpPr>
        <p:spPr>
          <a:xfrm>
            <a:off x="502919" y="772160"/>
            <a:ext cx="8138161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2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Future Research Directions</a:t>
            </a:r>
          </a:p>
        </p:txBody>
      </p:sp>
      <p:sp>
        <p:nvSpPr>
          <p:cNvPr id="306" name="Text 4"/>
          <p:cNvSpPr txBox="1"/>
          <p:nvPr/>
        </p:nvSpPr>
        <p:spPr>
          <a:xfrm>
            <a:off x="685799" y="1606332"/>
            <a:ext cx="365760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rPr sz="1400" dirty="0"/>
              <a:t>Scale &amp; Performance</a:t>
            </a:r>
          </a:p>
        </p:txBody>
      </p:sp>
      <p:sp>
        <p:nvSpPr>
          <p:cNvPr id="307" name="Shape 5"/>
          <p:cNvSpPr/>
          <p:nvPr/>
        </p:nvSpPr>
        <p:spPr>
          <a:xfrm>
            <a:off x="685800" y="1984248"/>
            <a:ext cx="54864" cy="54865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308" name="Text 6"/>
          <p:cNvSpPr txBox="1"/>
          <p:nvPr/>
        </p:nvSpPr>
        <p:spPr>
          <a:xfrm>
            <a:off x="822959" y="1887992"/>
            <a:ext cx="3474720" cy="247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200"/>
              </a:lnSpc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rPr sz="1050" dirty="0"/>
              <a:t>Train on larger Transformers (</a:t>
            </a:r>
            <a:r>
              <a:rPr sz="1050" dirty="0" err="1"/>
              <a:t>d</a:t>
            </a:r>
            <a:r>
              <a:rPr lang="en-US" sz="1050" baseline="-25000" dirty="0" err="1"/>
              <a:t>model</a:t>
            </a:r>
            <a:r>
              <a:rPr sz="1050" dirty="0"/>
              <a:t>=256+, 8+ layers)</a:t>
            </a:r>
          </a:p>
        </p:txBody>
      </p:sp>
      <p:sp>
        <p:nvSpPr>
          <p:cNvPr id="309" name="Shape 7"/>
          <p:cNvSpPr/>
          <p:nvPr/>
        </p:nvSpPr>
        <p:spPr>
          <a:xfrm>
            <a:off x="685800" y="2194560"/>
            <a:ext cx="54864" cy="54865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310" name="Text 8"/>
          <p:cNvSpPr txBox="1"/>
          <p:nvPr/>
        </p:nvSpPr>
        <p:spPr>
          <a:xfrm>
            <a:off x="822959" y="2094395"/>
            <a:ext cx="3474720" cy="255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200"/>
              </a:lnSpc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rPr sz="1050"/>
              <a:t>Evaluate on production-scale datasets</a:t>
            </a:r>
          </a:p>
        </p:txBody>
      </p:sp>
      <p:sp>
        <p:nvSpPr>
          <p:cNvPr id="311" name="Shape 9"/>
          <p:cNvSpPr/>
          <p:nvPr/>
        </p:nvSpPr>
        <p:spPr>
          <a:xfrm>
            <a:off x="685800" y="2404872"/>
            <a:ext cx="54864" cy="54865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312" name="Text 10"/>
          <p:cNvSpPr txBox="1"/>
          <p:nvPr/>
        </p:nvSpPr>
        <p:spPr>
          <a:xfrm>
            <a:off x="822959" y="2304707"/>
            <a:ext cx="3474720" cy="255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200"/>
              </a:lnSpc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rPr sz="1050"/>
              <a:t>Optimize inference for real-time applications</a:t>
            </a:r>
          </a:p>
        </p:txBody>
      </p:sp>
      <p:sp>
        <p:nvSpPr>
          <p:cNvPr id="320" name="Text 20"/>
          <p:cNvSpPr txBox="1"/>
          <p:nvPr/>
        </p:nvSpPr>
        <p:spPr>
          <a:xfrm>
            <a:off x="685799" y="3229392"/>
            <a:ext cx="365760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rPr sz="1400" dirty="0"/>
              <a:t>Architectural Extensions</a:t>
            </a:r>
          </a:p>
        </p:txBody>
      </p:sp>
      <p:sp>
        <p:nvSpPr>
          <p:cNvPr id="321" name="Shape 21"/>
          <p:cNvSpPr/>
          <p:nvPr/>
        </p:nvSpPr>
        <p:spPr>
          <a:xfrm>
            <a:off x="685800" y="3607308"/>
            <a:ext cx="54864" cy="54865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322" name="Text 22"/>
          <p:cNvSpPr txBox="1"/>
          <p:nvPr/>
        </p:nvSpPr>
        <p:spPr>
          <a:xfrm>
            <a:off x="822959" y="3507144"/>
            <a:ext cx="3474720" cy="255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200"/>
              </a:lnSpc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rPr sz="1050"/>
              <a:t>Learnable aggregation functions vs fixed statistics</a:t>
            </a:r>
          </a:p>
        </p:txBody>
      </p:sp>
      <p:sp>
        <p:nvSpPr>
          <p:cNvPr id="323" name="Shape 23"/>
          <p:cNvSpPr/>
          <p:nvPr/>
        </p:nvSpPr>
        <p:spPr>
          <a:xfrm>
            <a:off x="685800" y="3817621"/>
            <a:ext cx="54864" cy="54865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324" name="Text 24"/>
          <p:cNvSpPr txBox="1"/>
          <p:nvPr/>
        </p:nvSpPr>
        <p:spPr>
          <a:xfrm>
            <a:off x="822959" y="3717456"/>
            <a:ext cx="3474720" cy="255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200"/>
              </a:lnSpc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rPr sz="1050"/>
              <a:t>Adaptive neighborhood size (vs fixed 3-token window)</a:t>
            </a:r>
          </a:p>
        </p:txBody>
      </p:sp>
      <p:sp>
        <p:nvSpPr>
          <p:cNvPr id="325" name="Shape 25"/>
          <p:cNvSpPr/>
          <p:nvPr/>
        </p:nvSpPr>
        <p:spPr>
          <a:xfrm>
            <a:off x="685800" y="4027933"/>
            <a:ext cx="54864" cy="54865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326" name="Text 26"/>
          <p:cNvSpPr txBox="1"/>
          <p:nvPr/>
        </p:nvSpPr>
        <p:spPr>
          <a:xfrm>
            <a:off x="822959" y="3927768"/>
            <a:ext cx="3474720" cy="255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200"/>
              </a:lnSpc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rPr sz="1050"/>
              <a:t>Integration with attention mechanisms</a:t>
            </a:r>
          </a:p>
        </p:txBody>
      </p:sp>
      <p:sp>
        <p:nvSpPr>
          <p:cNvPr id="334" name="Text 36"/>
          <p:cNvSpPr txBox="1"/>
          <p:nvPr/>
        </p:nvSpPr>
        <p:spPr>
          <a:xfrm>
            <a:off x="4846323" y="1582410"/>
            <a:ext cx="365760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rPr sz="1400" dirty="0"/>
              <a:t>Theoretical Analysis</a:t>
            </a:r>
          </a:p>
        </p:txBody>
      </p:sp>
      <p:sp>
        <p:nvSpPr>
          <p:cNvPr id="335" name="Shape 37"/>
          <p:cNvSpPr/>
          <p:nvPr/>
        </p:nvSpPr>
        <p:spPr>
          <a:xfrm>
            <a:off x="4846324" y="1960327"/>
            <a:ext cx="54864" cy="54865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336" name="Text 38"/>
          <p:cNvSpPr txBox="1"/>
          <p:nvPr/>
        </p:nvSpPr>
        <p:spPr>
          <a:xfrm>
            <a:off x="4983483" y="1860162"/>
            <a:ext cx="3474720" cy="255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200"/>
              </a:lnSpc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rPr sz="1050" dirty="0"/>
              <a:t>Fourier analysis of learned positional patterns</a:t>
            </a:r>
          </a:p>
        </p:txBody>
      </p:sp>
      <p:sp>
        <p:nvSpPr>
          <p:cNvPr id="337" name="Shape 39"/>
          <p:cNvSpPr/>
          <p:nvPr/>
        </p:nvSpPr>
        <p:spPr>
          <a:xfrm>
            <a:off x="4846324" y="2170639"/>
            <a:ext cx="54864" cy="54865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338" name="Text 40"/>
          <p:cNvSpPr txBox="1"/>
          <p:nvPr/>
        </p:nvSpPr>
        <p:spPr>
          <a:xfrm>
            <a:off x="4983483" y="2070474"/>
            <a:ext cx="3474720" cy="255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200"/>
              </a:lnSpc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rPr sz="1050"/>
              <a:t>Attention map visualization and interpretation</a:t>
            </a:r>
          </a:p>
        </p:txBody>
      </p:sp>
      <p:sp>
        <p:nvSpPr>
          <p:cNvPr id="339" name="Shape 41"/>
          <p:cNvSpPr/>
          <p:nvPr/>
        </p:nvSpPr>
        <p:spPr>
          <a:xfrm>
            <a:off x="4846324" y="2380951"/>
            <a:ext cx="54864" cy="54865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340" name="Text 42"/>
          <p:cNvSpPr txBox="1"/>
          <p:nvPr/>
        </p:nvSpPr>
        <p:spPr>
          <a:xfrm>
            <a:off x="4983483" y="2280786"/>
            <a:ext cx="3474720" cy="255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200"/>
              </a:lnSpc>
              <a:defRPr sz="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rPr sz="1050"/>
              <a:t>Formal analysis of position-invariance properties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Text 0"/>
          <p:cNvSpPr txBox="1"/>
          <p:nvPr/>
        </p:nvSpPr>
        <p:spPr>
          <a:xfrm>
            <a:off x="308557" y="414970"/>
            <a:ext cx="2980232" cy="713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6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Conclusion</a:t>
            </a:r>
          </a:p>
        </p:txBody>
      </p:sp>
      <p:sp>
        <p:nvSpPr>
          <p:cNvPr id="350" name="Text 3"/>
          <p:cNvSpPr txBox="1"/>
          <p:nvPr/>
        </p:nvSpPr>
        <p:spPr>
          <a:xfrm>
            <a:off x="960119" y="1533078"/>
            <a:ext cx="722376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Key Contributions</a:t>
            </a:r>
          </a:p>
        </p:txBody>
      </p:sp>
      <p:sp>
        <p:nvSpPr>
          <p:cNvPr id="351" name="Text 5"/>
          <p:cNvSpPr txBox="1"/>
          <p:nvPr/>
        </p:nvSpPr>
        <p:spPr>
          <a:xfrm>
            <a:off x="1280160" y="1973857"/>
            <a:ext cx="6675120" cy="284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400"/>
              </a:lnSpc>
              <a:defRPr sz="11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Novel Adaptation: </a:t>
            </a:r>
            <a:r>
              <a: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rPr>
              <a:t>Successfully adapted xCPE from 3D point clouds to 1D time series forecasting</a:t>
            </a:r>
          </a:p>
        </p:txBody>
      </p:sp>
      <p:sp>
        <p:nvSpPr>
          <p:cNvPr id="352" name="Text 7"/>
          <p:cNvSpPr txBox="1"/>
          <p:nvPr/>
        </p:nvSpPr>
        <p:spPr>
          <a:xfrm>
            <a:off x="1280160" y="2312185"/>
            <a:ext cx="6675120" cy="284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400"/>
              </a:lnSpc>
              <a:defRPr sz="11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Empirical Validation: </a:t>
            </a:r>
            <a:r>
              <a: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rPr>
              <a:t>Demonstrated 4-5.5% MSE reduction on non-stationary benchmarks (ETTh1, Weather)</a:t>
            </a:r>
          </a:p>
        </p:txBody>
      </p:sp>
      <p:sp>
        <p:nvSpPr>
          <p:cNvPr id="353" name="Text 9"/>
          <p:cNvSpPr txBox="1"/>
          <p:nvPr/>
        </p:nvSpPr>
        <p:spPr>
          <a:xfrm>
            <a:off x="1280160" y="2650513"/>
            <a:ext cx="6675120" cy="284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400"/>
              </a:lnSpc>
              <a:defRPr sz="11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Content vs Flexibility: </a:t>
            </a:r>
            <a:r>
              <a: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rPr>
              <a:t>Proved content-conditioning outperforms positional flexibility (RoPE comparison)</a:t>
            </a:r>
          </a:p>
        </p:txBody>
      </p:sp>
      <p:sp>
        <p:nvSpPr>
          <p:cNvPr id="354" name="Text 11"/>
          <p:cNvSpPr txBox="1"/>
          <p:nvPr/>
        </p:nvSpPr>
        <p:spPr>
          <a:xfrm>
            <a:off x="1280160" y="2988841"/>
            <a:ext cx="6675120" cy="284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400"/>
              </a:lnSpc>
              <a:defRPr sz="11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Scaling Properties: </a:t>
            </a:r>
            <a:r>
              <a: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rPr>
              <a:t>Confirmed improvement scales with forecast horizon - stronger gains at H=720</a:t>
            </a:r>
          </a:p>
        </p:txBody>
      </p:sp>
      <p:sp>
        <p:nvSpPr>
          <p:cNvPr id="355" name="Text 13"/>
          <p:cNvSpPr txBox="1"/>
          <p:nvPr/>
        </p:nvSpPr>
        <p:spPr>
          <a:xfrm>
            <a:off x="1280160" y="3327169"/>
            <a:ext cx="6675120" cy="284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400"/>
              </a:lnSpc>
              <a:defRPr sz="11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Efficiency: </a:t>
            </a:r>
            <a:r>
              <a:rPr sz="1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rPr>
              <a:t>Achieved position-invariance with only ~12K additional parameters</a:t>
            </a:r>
          </a:p>
        </p:txBody>
      </p:sp>
      <p:sp>
        <p:nvSpPr>
          <p:cNvPr id="356" name="Text 15"/>
          <p:cNvSpPr txBox="1"/>
          <p:nvPr/>
        </p:nvSpPr>
        <p:spPr>
          <a:xfrm>
            <a:off x="960119" y="3844478"/>
            <a:ext cx="72237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D4AF37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Impact &amp; Significance</a:t>
            </a:r>
          </a:p>
        </p:txBody>
      </p:sp>
      <p:sp>
        <p:nvSpPr>
          <p:cNvPr id="357" name="Text 16"/>
          <p:cNvSpPr txBox="1"/>
          <p:nvPr/>
        </p:nvSpPr>
        <p:spPr>
          <a:xfrm>
            <a:off x="960119" y="4119718"/>
            <a:ext cx="7223761" cy="711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600"/>
              </a:lnSpc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Content-conditioned positional encoding offers a principled approach to handling non-stationarity in time series forecasting. By encoding position based on local dynamics rather than absolute index, xCPE provides a robust inductive bias that generalizes effectively across distribution shifts.</a:t>
            </a:r>
          </a:p>
        </p:txBody>
      </p:sp>
      <p:sp>
        <p:nvSpPr>
          <p:cNvPr id="358" name="Shape 5"/>
          <p:cNvSpPr/>
          <p:nvPr/>
        </p:nvSpPr>
        <p:spPr>
          <a:xfrm>
            <a:off x="1046987" y="2117532"/>
            <a:ext cx="54865" cy="54865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359" name="Shape 5"/>
          <p:cNvSpPr/>
          <p:nvPr/>
        </p:nvSpPr>
        <p:spPr>
          <a:xfrm>
            <a:off x="1046987" y="2459162"/>
            <a:ext cx="54865" cy="54865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360" name="Shape 5"/>
          <p:cNvSpPr/>
          <p:nvPr/>
        </p:nvSpPr>
        <p:spPr>
          <a:xfrm>
            <a:off x="1046987" y="2765486"/>
            <a:ext cx="54865" cy="54865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361" name="Shape 5"/>
          <p:cNvSpPr/>
          <p:nvPr/>
        </p:nvSpPr>
        <p:spPr>
          <a:xfrm>
            <a:off x="1046987" y="3103814"/>
            <a:ext cx="54865" cy="54865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  <p:sp>
        <p:nvSpPr>
          <p:cNvPr id="362" name="Shape 5"/>
          <p:cNvSpPr/>
          <p:nvPr/>
        </p:nvSpPr>
        <p:spPr>
          <a:xfrm>
            <a:off x="1046987" y="3442142"/>
            <a:ext cx="54865" cy="54865"/>
          </a:xfrm>
          <a:prstGeom prst="rect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 0"/>
          <p:cNvSpPr txBox="1"/>
          <p:nvPr/>
        </p:nvSpPr>
        <p:spPr>
          <a:xfrm>
            <a:off x="245423" y="414970"/>
            <a:ext cx="2980231" cy="713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6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t>References</a:t>
            </a:r>
          </a:p>
        </p:txBody>
      </p:sp>
      <p:sp>
        <p:nvSpPr>
          <p:cNvPr id="365" name="[1] Wang, Y., et al. TimeDART: A Diffusion Auto-Regressive Transformer for Self-Supervised Time Series Representation. International Conference on Learning Representations (ICLR), 2025. https://github.com/Melmaphother/TimeDART…"/>
          <p:cNvSpPr txBox="1"/>
          <p:nvPr/>
        </p:nvSpPr>
        <p:spPr>
          <a:xfrm>
            <a:off x="465727" y="1193634"/>
            <a:ext cx="8212546" cy="3342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 defTabSz="457200">
              <a:defRPr sz="12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rPr dirty="0"/>
              <a:t>[1] Wang, Y., et al. </a:t>
            </a:r>
            <a:r>
              <a:rPr dirty="0" err="1"/>
              <a:t>TimeDART</a:t>
            </a:r>
            <a:r>
              <a:rPr dirty="0"/>
              <a:t>: A Diffusion Auto-Regressive Transformer for Self-Supervised Time Series Representation. International Conference on Learning Representations (ICLR), 2025. </a:t>
            </a:r>
            <a:r>
              <a:rPr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https://github.com/Melmaphother/TimeDART</a:t>
            </a:r>
          </a:p>
          <a:p>
            <a:pPr algn="just" defTabSz="457200">
              <a:defRPr sz="12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endParaRPr dirty="0">
              <a:solidFill>
                <a:srgbClr val="0000FF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just" defTabSz="457200">
              <a:defRPr sz="12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rPr dirty="0"/>
              <a:t>[2] Wu, X., et al. Point Transformer V3: Simpler, Faster, Stronger. IEEE/CVF Conference on Computer Vision and Pattern Recognition (CVPR), 2024</a:t>
            </a:r>
            <a:r>
              <a:rPr dirty="0">
                <a:solidFill>
                  <a:schemeClr val="bg1"/>
                </a:solidFill>
              </a:rPr>
              <a:t>. </a:t>
            </a:r>
            <a:r>
              <a:rPr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dirty="0" err="1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</a:t>
            </a:r>
            <a:r>
              <a:rPr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dirty="0" err="1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Pointcept</a:t>
            </a:r>
            <a:r>
              <a:rPr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 PointTransformerV3</a:t>
            </a:r>
            <a:endParaRPr dirty="0">
              <a:solidFill>
                <a:schemeClr val="bg1"/>
              </a:solidFill>
            </a:endParaRPr>
          </a:p>
          <a:p>
            <a:pPr algn="just" defTabSz="457200">
              <a:defRPr sz="12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endParaRPr dirty="0"/>
          </a:p>
          <a:p>
            <a:pPr algn="just" defTabSz="457200">
              <a:defRPr sz="12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rPr dirty="0"/>
              <a:t>[3] </a:t>
            </a:r>
            <a:r>
              <a:rPr dirty="0" err="1"/>
              <a:t>Nie</a:t>
            </a:r>
            <a:r>
              <a:rPr dirty="0"/>
              <a:t>, Y., et al. A Time Series is Worth 64 Words: Long-term Forecasting with Transformers. International Conference on Learning Representations (ICLR), 2023. </a:t>
            </a:r>
          </a:p>
          <a:p>
            <a:pPr algn="just" defTabSz="457200">
              <a:defRPr sz="12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endParaRPr dirty="0"/>
          </a:p>
          <a:p>
            <a:pPr algn="just" defTabSz="457200">
              <a:defRPr sz="12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rPr dirty="0"/>
              <a:t>[4] Ho, J., Jain, A., and </a:t>
            </a:r>
            <a:r>
              <a:rPr dirty="0" err="1"/>
              <a:t>Abbeel</a:t>
            </a:r>
            <a:r>
              <a:rPr dirty="0"/>
              <a:t>, P. Denoising Diffusion Probabilistic Models. Advances in Neural Information Processing Systems (</a:t>
            </a:r>
            <a:r>
              <a:rPr dirty="0" err="1"/>
              <a:t>NeurIPS</a:t>
            </a:r>
            <a:r>
              <a:rPr dirty="0"/>
              <a:t>), 2020. </a:t>
            </a:r>
          </a:p>
          <a:p>
            <a:pPr algn="just" defTabSz="457200">
              <a:defRPr sz="12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endParaRPr dirty="0"/>
          </a:p>
          <a:p>
            <a:pPr algn="just" defTabSz="457200">
              <a:defRPr sz="12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rPr dirty="0"/>
              <a:t>[5] </a:t>
            </a:r>
            <a:r>
              <a:rPr dirty="0" err="1"/>
              <a:t>Su</a:t>
            </a:r>
            <a:r>
              <a:rPr dirty="0"/>
              <a:t>, J., et al. </a:t>
            </a:r>
            <a:r>
              <a:rPr dirty="0" err="1"/>
              <a:t>RoFormer</a:t>
            </a:r>
            <a:r>
              <a:rPr dirty="0"/>
              <a:t>: Enhanced Transformer with Rotary Position Embedding. arXiv:2104.09864, 2021. </a:t>
            </a:r>
          </a:p>
          <a:p>
            <a:pPr algn="just" defTabSz="457200">
              <a:defRPr sz="12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endParaRPr dirty="0"/>
          </a:p>
          <a:p>
            <a:pPr algn="just" defTabSz="457200">
              <a:defRPr sz="12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rPr dirty="0"/>
              <a:t>[6] Zhou, H., et al. Informer: Beyond Efficient Transformer for Long Sequence Time-Series Forecasting. AAAI Conference on Artificial Intelligence, 2021.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Text 2"/>
          <p:cNvSpPr txBox="1"/>
          <p:nvPr/>
        </p:nvSpPr>
        <p:spPr>
          <a:xfrm>
            <a:off x="502919" y="1958731"/>
            <a:ext cx="8138161" cy="1031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5400">
                <a:solidFill>
                  <a:srgbClr val="D4AF37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Thank You</a:t>
            </a:r>
          </a:p>
        </p:txBody>
      </p:sp>
      <p:sp>
        <p:nvSpPr>
          <p:cNvPr id="368" name="Text 3"/>
          <p:cNvSpPr txBox="1"/>
          <p:nvPr/>
        </p:nvSpPr>
        <p:spPr>
          <a:xfrm>
            <a:off x="502919" y="4378959"/>
            <a:ext cx="81381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Group 1  MSML 612  Deep Learning - Spring 2026</a:t>
            </a:r>
          </a:p>
        </p:txBody>
      </p:sp>
      <p:sp>
        <p:nvSpPr>
          <p:cNvPr id="369" name="Text 4"/>
          <p:cNvSpPr txBox="1"/>
          <p:nvPr/>
        </p:nvSpPr>
        <p:spPr>
          <a:xfrm>
            <a:off x="502919" y="4705349"/>
            <a:ext cx="81381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Serjius Infanto     Athreya Sudarshan     Tharunkumar Chandrasekaran    Anto Delin Xavier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1654</Words>
  <Application>Microsoft Macintosh PowerPoint</Application>
  <PresentationFormat>On-screen Show (16:9)</PresentationFormat>
  <Paragraphs>298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Avenir Book</vt:lpstr>
      <vt:lpstr>Avenir Book Oblique</vt:lpstr>
      <vt:lpstr>Avenir Heavy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Anto Delin Xavier</cp:lastModifiedBy>
  <cp:revision>10</cp:revision>
  <dcterms:modified xsi:type="dcterms:W3CDTF">2026-04-30T20:12:35Z</dcterms:modified>
</cp:coreProperties>
</file>